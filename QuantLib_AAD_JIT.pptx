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0A1628"/>
                </a:solidFill>
                <a:latin typeface="Arial"/>
              </a:defRPr>
            </a:pPr>
            <a:r>
              <a:rPr sz="1300" b="1" i="0" u="none" strike="noStrike">
                <a:solidFill>
                  <a:srgbClr val="0A1628"/>
                </a:solidFill>
                <a:latin typeface="Arial"/>
              </a:rPr>
              <a:t>FD ÷ AAD Speedup by Input Count (N)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÷ AAD Speedup</c:v>
                </c:pt>
              </c:strCache>
            </c:strRef>
          </c:tx>
          <c:spPr>
            <a:solidFill>
              <a:srgbClr val="007E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N=3
Swaption</c:v>
                </c:pt>
                <c:pt idx="1">
                  <c:v>N=4
Eur Call</c:v>
                </c:pt>
                <c:pt idx="2">
                  <c:v>N=5
Basket MC</c:v>
                </c:pt>
                <c:pt idx="3">
                  <c:v>N=6
CDS MidPt</c:v>
                </c:pt>
                <c:pt idx="4">
                  <c:v>N=9
SOFR OIS</c:v>
                </c:pt>
                <c:pt idx="5">
                  <c:v>N=14
Risky Bond</c:v>
                </c:pt>
                <c:pt idx="6">
                  <c:v>N=17
IRS</c:v>
                </c:pt>
                <c:pt idx="7">
                  <c:v>N=18
IR Cap</c:v>
                </c:pt>
                <c:pt idx="8">
                  <c:v>N=20
ISDA CDS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</c:v>
                </c:pt>
                <c:pt idx="1">
                  <c:v>17</c:v>
                </c:pt>
                <c:pt idx="2">
                  <c:v>36</c:v>
                </c:pt>
                <c:pt idx="3">
                  <c:v>63</c:v>
                </c:pt>
                <c:pt idx="4">
                  <c:v>136</c:v>
                </c:pt>
                <c:pt idx="5">
                  <c:v>116</c:v>
                </c:pt>
                <c:pt idx="6">
                  <c:v>191</c:v>
                </c:pt>
                <c:pt idx="7">
                  <c:v>888</c:v>
                </c:pt>
                <c:pt idx="8">
                  <c:v>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80-436E-A8DC-A8E8C05107E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4A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4A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4790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0"/>
            <a:ext cx="228600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50292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&amp; JIT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347472" y="14173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QuantLib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47472" y="22860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 Algorithmic Differentiation &amp; JIT Compilation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High-Performance Greeks Computation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Library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83080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3080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18688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18688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QuantLib-Risks-Py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4296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C++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0" y="640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Greeks = N+1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pricings with FD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1664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backward sweep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yields ALL Greeks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2697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seen: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0358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888× IR 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34381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191× Vanilla IRS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0" y="38404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116× Risky Bond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24281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35,548× Jacobian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AAD? The Cost of Finite Differences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Greeks for N market inputs with traditional bumping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22960"/>
            <a:ext cx="64008" cy="402336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822960"/>
            <a:ext cx="4160520" cy="43891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822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Differences (Traditional)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∂V/∂xᵢ  ≈  [V(xᵢ+h) − V(xᵢ)] / 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1847088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4708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64208" y="184708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 pricings for N inputs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322576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322576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18 (IR Cap)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64208" y="2322576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full pricings per Greeks set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798064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798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 (ISDA CDS)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64208" y="2798064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full pricings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273552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2735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64208" y="327355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Truncation + round-off errors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749040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7490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64208" y="3749040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 N — prohibitive for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curves / portfolios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822960"/>
            <a:ext cx="4343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822960"/>
            <a:ext cx="64008" cy="4023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822960"/>
            <a:ext cx="4343400" cy="438912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0016" y="8229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(Adjoint Algorithmic Diff.)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700016" y="13716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∇V = (∂V/∂x₁, …, ∂V/∂xₙ)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00016" y="1847088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0016" y="184708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53328" y="184708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4× one forward pricing — independent of 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0016" y="2322576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0016" y="2322576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18 (IR Cap)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53328" y="232257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~4× cost as N = 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0016" y="2798064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0016" y="2798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 (ISDA CDS)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53328" y="279806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~4× cost as N = 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00016" y="3273552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0016" y="32735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053328" y="3273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machine precision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0016" y="3749040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37490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053328" y="37490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in N — designed for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curve portfolios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QuantLib-Risks-Py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5669280" cy="7498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8595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User Code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472" y="1143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 = Tape()  ·  instrument.NPV()  ·  tape.computeAdjoints()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34640" y="1572768"/>
            <a:ext cx="73152" cy="9144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1664208"/>
            <a:ext cx="5669280" cy="7498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7007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 Bindings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" y="198424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8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↔ xad::AReal&lt;double&gt; typemaps  (types.i)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34640" y="2414016"/>
            <a:ext cx="73152" cy="9144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" y="2505456"/>
            <a:ext cx="5669280" cy="7498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5420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QuantLib C++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" y="282549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= xad::AReal&lt;double&gt;  via  QL_INCLUDE_FIRST=ql/qlrisks.hpp  ·  zero source changes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34640" y="3255264"/>
            <a:ext cx="73152" cy="9144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3346704"/>
            <a:ext cx="5669280" cy="749808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3383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(Tape-based AAD)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" y="36667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every +, ×, sin, …  ·  O(1) per backward sweep  ·  Replay across scenarios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4206240"/>
            <a:ext cx="5669280" cy="658368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4206240"/>
            <a:ext cx="2788920" cy="65836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 ·  Record → Replay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" y="452628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per sweep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  ·  Tape → x86-64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90672" y="4526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AVX2: 4 evals in parallel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822960"/>
            <a:ext cx="2834640" cy="4041648"/>
          </a:xfrm>
          <a:prstGeom prst="rect">
            <a:avLst/>
          </a:prstGeom>
          <a:solidFill>
            <a:srgbClr val="112240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822960"/>
            <a:ext cx="64008" cy="40416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8961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Dependency Graph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36208" y="1234440"/>
            <a:ext cx="2542032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12344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0" y="1234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JIT, AsmJit-based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1581912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3952" y="15819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forge/api/c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71232" y="15819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API, binary compat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36208" y="1929384"/>
            <a:ext cx="2542032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1929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06640" y="19293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tape library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2276856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73952" y="22768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xad-forge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571232" y="22768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→ Forge bridge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36208" y="2624328"/>
            <a:ext cx="2542032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26243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QuantLib-Risks-Cpp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06640" y="26243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Redefines QL_REAL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0" y="2971800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3952" y="2971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QuantLib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571232" y="2971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with AReal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00800" y="3319272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73952" y="33192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QuantLib-Risks-Py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571232" y="33192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 Python ext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00800" y="3666744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3952" y="36667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xad-autodiff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571232" y="36667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tape API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AAD Tape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 from input registration to gradient extraction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1168" y="91440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914400"/>
            <a:ext cx="2798064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3268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" y="932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Tape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1389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 = Tape()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tape.activate()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0896" y="203911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391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1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Thread-local recording target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63824" y="91440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63824" y="914400"/>
            <a:ext cx="2798064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55264" y="93268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932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Inputs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73552" y="1389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tape.registerInput(spot)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tape.registerInput(vol)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73552" y="203911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28416" y="20391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independent variables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91440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914400"/>
            <a:ext cx="2798064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93268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84848" y="932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36208" y="1389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npv = instrument.NPV()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ops recorded as {opcode,…}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36208" y="203911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91072" y="20391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curve, price — tape grows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01168" y="283464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01168" y="2834640"/>
            <a:ext cx="2798064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" y="28529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9536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Output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10896" y="331012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derivative(npv) = 1.0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∂V/∂V = 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0896" y="395935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9593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backward from output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163824" y="283464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63824" y="2834640"/>
            <a:ext cx="2798064" cy="411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55264" y="28529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22192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Sweep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273552" y="331012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tape.computeAdjoints()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Chain rule in reverse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73552" y="395935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28416" y="39593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— one sweep all Greeks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26480" y="283464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26480" y="2834640"/>
            <a:ext cx="2798064" cy="411480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28529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84848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Gradients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36208" y="331012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delta = tape.derivative(spot)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vega  = tape.derivative(vol)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36208" y="395935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91072" y="39593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67F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∂V/∂xᵢ for every input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01168" y="4718304"/>
            <a:ext cx="8741664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1830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Steps 4–6 (backward pass) are O(1) in N — one sweep yields ALL N sensitivities, regardless of input count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vs Re-record — Critical for Scenario Performance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32918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68680"/>
            <a:ext cx="416052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868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 (FAST — preferred)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Re-use the SAME tape for multiple adjoint seeds.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re-execution of forward pass.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920240"/>
            <a:ext cx="3931920" cy="1207008"/>
          </a:xfrm>
          <a:prstGeom prst="rect">
            <a:avLst/>
          </a:prstGeom>
          <a:solidFill>
            <a:srgbClr val="131F2E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751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scenario in scenarios: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2037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tape.clearDerivatives()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derivative(npv) = 1.0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6609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tape.computeAdjoints()  # reuses tape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8895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greeks[scenario] = tape.derivative(x)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00400"/>
            <a:ext cx="3931920" cy="347472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computation graph is STABLE across scenarios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868680"/>
            <a:ext cx="4343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868680"/>
            <a:ext cx="64008" cy="3291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868680"/>
            <a:ext cx="4343400" cy="411480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0016" y="868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Re-record  (SLOW — only when needed)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00016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tape.newRecording() and re-runs the full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 to rebuild the tape.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1920240"/>
            <a:ext cx="4114800" cy="1207008"/>
          </a:xfrm>
          <a:prstGeom prst="rect">
            <a:avLst/>
          </a:prstGeom>
          <a:solidFill>
            <a:srgbClr val="131F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9751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scenario in scenarios: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0" y="22037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tape.newRecording()   # full rebuild!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54880" y="24323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re-execute all: curve build,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26609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solver iterations, pricing…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54880" y="28895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tape.computeAdjoints()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00400"/>
            <a:ext cx="4114800" cy="347472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3200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inputs change CONTROL FLOW (e.g. solver paths)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28600" y="4251960"/>
            <a:ext cx="21031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2519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359152" y="4251960"/>
            <a:ext cx="11887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04872" y="425196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(ms)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84448" y="4251960"/>
            <a:ext cx="150876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0168" y="42519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Re-record (ms)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20640" y="4251960"/>
            <a:ext cx="100584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66360" y="4251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(ms)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53912" y="4251960"/>
            <a:ext cx="100584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99632" y="4251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vs FD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28600" y="4581144"/>
            <a:ext cx="21031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58114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359152" y="4581144"/>
            <a:ext cx="11887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04872" y="45811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84448" y="4581144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0168" y="458114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120640" y="4581144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45811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726.4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153912" y="4581144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5811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212×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8600" y="4910328"/>
            <a:ext cx="21031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74320" y="491032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(MidPoint)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359152" y="4910328"/>
            <a:ext cx="11887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04872" y="49103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584448" y="4910328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30168" y="49103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42.6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20640" y="4910328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66360" y="49103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53912" y="4910328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99632" y="49103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63×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8600" y="5239512"/>
            <a:ext cx="21031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523951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(ISDA)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359152" y="5239512"/>
            <a:ext cx="11887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04872" y="52395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584448" y="5239512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30168" y="52395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1,580.5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120640" y="5239512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66360" y="52395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6,599.8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153912" y="5239512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99632" y="52395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254×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28600" y="5568696"/>
            <a:ext cx="21031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74320" y="55686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SOFR OIS IRS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359152" y="5568696"/>
            <a:ext cx="11887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404872" y="556869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584448" y="5568696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30168" y="556869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5,143.1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5120640" y="5568696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66360" y="556869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404.4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153912" y="5568696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99632" y="556869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136×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205472" y="4251960"/>
            <a:ext cx="1709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205472" y="425196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vs FD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JIT: From Tape to Native x86-64 Kernel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011680" cy="960120"/>
          </a:xfrm>
          <a:prstGeom prst="rect">
            <a:avLst/>
          </a:prstGeom>
          <a:solidFill>
            <a:srgbClr val="1A305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Tape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list of operations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{opcode, operands, result}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0" y="1170432"/>
            <a:ext cx="201168" cy="7315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87168" y="804672"/>
            <a:ext cx="2011680" cy="960120"/>
          </a:xfrm>
          <a:prstGeom prst="rect">
            <a:avLst/>
          </a:prstGeom>
          <a:solidFill>
            <a:srgbClr val="1A305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78608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Graph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78608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of operations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xad-forge bridge)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98848" y="1170432"/>
            <a:ext cx="201168" cy="7315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0016" y="804672"/>
            <a:ext cx="2011680" cy="960120"/>
          </a:xfrm>
          <a:prstGeom prst="rect">
            <a:avLst/>
          </a:prstGeom>
          <a:solidFill>
            <a:srgbClr val="1A305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91456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Graph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91456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· Constant folding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simplification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11696" y="1170432"/>
            <a:ext cx="201168" cy="7315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12864" y="804672"/>
            <a:ext cx="2011680" cy="960120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ForgedKernel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4304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x86-64 machine code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AsmJit code generation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76272" y="181051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xad-forge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89120" y="181051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01968" y="181051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AsmJit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2359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Execution Backends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2697480"/>
            <a:ext cx="4297680" cy="2176272"/>
          </a:xfrm>
          <a:prstGeom prst="rect">
            <a:avLst/>
          </a:prstGeom>
          <a:solidFill>
            <a:srgbClr val="1A305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" y="2743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ScalarBackend  (SSE2)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02336" y="3108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1 input set at a time.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replacement for tape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interpretation. Same API.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02336" y="3858768"/>
            <a:ext cx="2286000" cy="329184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2336" y="38587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replacement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2697480"/>
            <a:ext cx="4297680" cy="2176272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2743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AVXBackend  (AVX2 / 256-bit)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74336" y="3108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4 independent input sets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using SIMD instructions.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portfolio / scenario grids.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74336" y="3858768"/>
            <a:ext cx="2286000" cy="32918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8587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SIMD parallelism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4800600"/>
            <a:ext cx="8412480" cy="256032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8006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eliminates interpreter overhead: no opcode dispatch, no pointer chasing, better cache locality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Limitations — Data-Dependent Branching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compiled kernel is a straight-line computation — no conditionals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68680"/>
            <a:ext cx="8686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68680"/>
            <a:ext cx="64008" cy="107899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XAD records a LINEAR tape — C++ if-statements on AReal&lt;double&gt; are evaluated at record time.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ForgedKernel is straight-line code with NO conditional instructions. When re-evaluated with inputs that would take a different branch: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4048" y="1481328"/>
            <a:ext cx="3840480" cy="34747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481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results — stale branch decisions → incorrect Greeks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1481328"/>
            <a:ext cx="4480560" cy="34747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4813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(SIGSEGV) — stale indices / pointer offsets access invalid memory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" y="202996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Eligibility by Engine Type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322576"/>
            <a:ext cx="3520440" cy="2423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" y="232257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/ Engine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76472" y="2322576"/>
            <a:ext cx="502920" cy="2423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31336" y="232257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15968" y="2322576"/>
            <a:ext cx="4434840" cy="2423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32257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257403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" y="257403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Call — AnalyticEuropeanEngine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76472" y="257403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31336" y="257403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15968" y="257403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257403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BSM formula, no branching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282549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82549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— BAW / B-S / QD+ (approx)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76472" y="282549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31336" y="282549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15968" y="282549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282549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/ quasi-analytic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8600" y="307695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3464" y="307695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— FdBlackScholesVanillaEngine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776472" y="307695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31336" y="307695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15968" y="307695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307695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boundary + early exercise checks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8600" y="332841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464" y="332841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— TreeCallableFixedRateBondEngine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76472" y="332841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31336" y="332841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✅†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315968" y="332841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70832" y="332841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40-step trinomial loop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8600" y="357987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464" y="357987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— BlackCapFloorEngine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776472" y="357987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31336" y="357987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15968" y="357987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70832" y="357987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Caplet Black formula evaluations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8600" y="383133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3464" y="383133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Swaption — JamshidianSwaptionEngine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776472" y="383133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1336" y="383133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15968" y="383133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70832" y="383133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Zero-bond option decomposition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8600" y="408279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3464" y="408279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/ SOFR OIS IRS — DiscountingSwapEngine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76472" y="408279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831336" y="408279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315968" y="408279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70832" y="408279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solver on tape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8600" y="433425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3464" y="433425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— MidPointCdsEngine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776472" y="433425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31336" y="433425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15968" y="433425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70832" y="433425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tape, no AReal branches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28600" y="458571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83464" y="458571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— IsdaCdsEngine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776472" y="458571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831336" y="458571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315968" y="458571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70832" y="458571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if(fhphh&lt;1E-4) on Real in source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28600" y="483717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83464" y="483717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Option — MCEuropeanBasketEngine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776472" y="483717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831336" y="483717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15968" y="483717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483717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path-dependent branching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28600" y="508863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83464" y="508863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Option — FdSimpleBSSwingEngine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776472" y="508863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31336" y="508863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15968" y="508863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70832" y="508863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+ exercise logic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228600" y="509320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Callable bond works because the 40-step trinomial loop is regular enough that branch patterns are stable.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Results — Single Instrument Pricing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reps, median. AAD backward = tape replay. Linux x86-64, Python 3.13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37160" y="749808"/>
            <a:ext cx="196596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74980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30552" y="749808"/>
            <a:ext cx="201168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749808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9664" y="749808"/>
            <a:ext cx="32004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15384" y="74980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17136" y="749808"/>
            <a:ext cx="73152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2856" y="74980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(ms)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76088" y="749808"/>
            <a:ext cx="73152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21808" y="74980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(ms)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749808"/>
            <a:ext cx="77724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49808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FD÷AAD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30568" y="749808"/>
            <a:ext cx="50292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749808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37160" y="1133856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1133856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Call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30552" y="1133856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6272" y="1133856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AnalyticEuropeanEngine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69664" y="1133856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15384" y="113385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17136" y="1133856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2856" y="113385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0.024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276088" y="1133856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21808" y="113385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1133856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1133856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17×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30568" y="1133856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76288" y="1133856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7160" y="1517904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1517904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(BAW)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30552" y="1517904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76272" y="1517904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BaroneAdesiWhaleyApprox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169664" y="1517904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5179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17136" y="1517904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2856" y="151790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0.020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76088" y="1517904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21808" y="151790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1517904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1517904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830568" y="1517904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6288" y="1517904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37160" y="1901952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190195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(B-S)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130552" y="1901952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76272" y="1901952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BjerksundStenslandApprox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169664" y="1901952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15384" y="19019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517136" y="1901952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2856" y="190195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0.128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276088" y="1901952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21808" y="190195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035040" y="1901952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0760" y="1901952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43×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830568" y="1901952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6288" y="1901952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37160" y="2286000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82880" y="2286000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(PDE)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2130552" y="2286000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176272" y="2286000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FdBlackScholesVanilla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169664" y="2286000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15384" y="228600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517136" y="2286000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62856" y="228600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354.3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276088" y="2286000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321808" y="228600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168.9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6035040" y="2286000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080760" y="2286000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2.1×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6830568" y="2286000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76288" y="2286000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37160" y="2670048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82880" y="267004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(QD+)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130552" y="2670048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176272" y="2670048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QdPlusAmericanEngine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169664" y="2670048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215384" y="267004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517136" y="2670048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562856" y="267004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0.183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5276088" y="2670048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321808" y="267004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0.029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6035040" y="2670048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080760" y="2670048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6.2×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6830568" y="2670048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876288" y="2670048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137160" y="3054096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82880" y="3054096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Swaption (HW)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2130552" y="3054096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76272" y="3054096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JamshidianSwaptionEngine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4169664" y="3054096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215384" y="305409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4517136" y="3054096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562856" y="305409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0.136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276088" y="3054096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21808" y="305409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6035040" y="3054096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080760" y="3054096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18×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6830568" y="3054096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876288" y="3054096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137160" y="3438144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3438144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Option (MC)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2130552" y="3438144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176272" y="3438144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MCEuropeanBasketEngine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4169664" y="3438144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15384" y="343814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4517136" y="3438144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562856" y="343814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254.5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276088" y="3438144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321808" y="343814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6035040" y="3438144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080760" y="3438144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36×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6830568" y="3438144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876288" y="3438144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137160" y="3822192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82880" y="382219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Option (PDE)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2130552" y="3822192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176272" y="3822192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FdSimpleBSSwingEngine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4169664" y="3822192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15384" y="382219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4517136" y="3822192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562856" y="382219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5276088" y="3822192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21808" y="382219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6035040" y="3822192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080760" y="3822192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3.5×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6830568" y="3822192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76288" y="3822192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137160" y="4206240"/>
            <a:ext cx="196596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82880" y="4206240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Bond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2130552" y="4206240"/>
            <a:ext cx="201168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176272" y="4206240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RiskyBondEngine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4169664" y="4206240"/>
            <a:ext cx="3200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215384" y="420624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4517136" y="4206240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562856" y="420624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7.417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5276088" y="4206240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321808" y="420624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0.064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6035040" y="4206240"/>
            <a:ext cx="7772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6080760" y="4206240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116×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6830568" y="4206240"/>
            <a:ext cx="5029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6876288" y="4206240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137160" y="4590288"/>
            <a:ext cx="196596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82880" y="459028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(Black)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2130552" y="4590288"/>
            <a:ext cx="201168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176272" y="4590288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BlackCapFloorEngine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4169664" y="4590288"/>
            <a:ext cx="3200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215384" y="45902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4517136" y="4590288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562856" y="459028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7.682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5276088" y="4590288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5321808" y="459028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6035040" y="4590288"/>
            <a:ext cx="7772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6080760" y="4590288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888×</a:t>
            </a:r>
            <a:endParaRPr lang="en-US" sz="950" dirty="0"/>
          </a:p>
        </p:txBody>
      </p:sp>
      <p:sp>
        <p:nvSpPr>
          <p:cNvPr id="158" name="Shape 156"/>
          <p:cNvSpPr/>
          <p:nvPr/>
        </p:nvSpPr>
        <p:spPr>
          <a:xfrm>
            <a:off x="6830568" y="4590288"/>
            <a:ext cx="5029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876288" y="4590288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137160" y="4974336"/>
            <a:ext cx="196596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82880" y="4974336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</a:t>
            </a:r>
            <a:endParaRPr lang="en-US" sz="950" dirty="0"/>
          </a:p>
        </p:txBody>
      </p:sp>
      <p:sp>
        <p:nvSpPr>
          <p:cNvPr id="162" name="Shape 160"/>
          <p:cNvSpPr/>
          <p:nvPr/>
        </p:nvSpPr>
        <p:spPr>
          <a:xfrm>
            <a:off x="2130552" y="4974336"/>
            <a:ext cx="201168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2176272" y="4974336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DiscountingSwapEngine</a:t>
            </a:r>
            <a:endParaRPr lang="en-US" sz="950" dirty="0"/>
          </a:p>
        </p:txBody>
      </p:sp>
      <p:sp>
        <p:nvSpPr>
          <p:cNvPr id="164" name="Shape 162"/>
          <p:cNvSpPr/>
          <p:nvPr/>
        </p:nvSpPr>
        <p:spPr>
          <a:xfrm>
            <a:off x="4169664" y="4974336"/>
            <a:ext cx="3200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49743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166" name="Shape 164"/>
          <p:cNvSpPr/>
          <p:nvPr/>
        </p:nvSpPr>
        <p:spPr>
          <a:xfrm>
            <a:off x="4517136" y="4974336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562856" y="497433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6.571</a:t>
            </a:r>
            <a:endParaRPr lang="en-US" sz="950" dirty="0"/>
          </a:p>
        </p:txBody>
      </p:sp>
      <p:sp>
        <p:nvSpPr>
          <p:cNvPr id="168" name="Shape 166"/>
          <p:cNvSpPr/>
          <p:nvPr/>
        </p:nvSpPr>
        <p:spPr>
          <a:xfrm>
            <a:off x="5276088" y="4974336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321808" y="497433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0.034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6035040" y="4974336"/>
            <a:ext cx="7772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6080760" y="4974336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191×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830568" y="4974336"/>
            <a:ext cx="5029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6876288" y="4974336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360920" y="749808"/>
            <a:ext cx="1719072" cy="422452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7406640" y="804672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÷ AAD</a:t>
            </a:r>
            <a:endParaRPr lang="en-US" sz="1000" dirty="0"/>
          </a:p>
        </p:txBody>
      </p:sp>
      <p:sp>
        <p:nvSpPr>
          <p:cNvPr id="176" name="Shape 174"/>
          <p:cNvSpPr/>
          <p:nvPr/>
        </p:nvSpPr>
        <p:spPr>
          <a:xfrm>
            <a:off x="7406640" y="1316736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7516368" y="131673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17×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7406640" y="1641348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7516368" y="16413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</a:t>
            </a:r>
            <a:endParaRPr lang="en-US" sz="850" dirty="0"/>
          </a:p>
        </p:txBody>
      </p:sp>
      <p:sp>
        <p:nvSpPr>
          <p:cNvPr id="180" name="Shape 178"/>
          <p:cNvSpPr/>
          <p:nvPr/>
        </p:nvSpPr>
        <p:spPr>
          <a:xfrm>
            <a:off x="7406640" y="1965960"/>
            <a:ext cx="73152" cy="2286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7516368" y="1965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43×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7406640" y="2290572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7516368" y="22905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2.1×</a:t>
            </a:r>
            <a:endParaRPr lang="en-US" sz="850" dirty="0"/>
          </a:p>
        </p:txBody>
      </p:sp>
      <p:sp>
        <p:nvSpPr>
          <p:cNvPr id="184" name="Shape 182"/>
          <p:cNvSpPr/>
          <p:nvPr/>
        </p:nvSpPr>
        <p:spPr>
          <a:xfrm>
            <a:off x="7406640" y="2615184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7516368" y="2615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6.2×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2939796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7516368" y="29397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18×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3264408"/>
            <a:ext cx="73152" cy="2286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7516368" y="32644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36×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7406640" y="3589020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7516368" y="35890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3.5×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7406640" y="3913632"/>
            <a:ext cx="185145" cy="2286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7628361" y="39136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116×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7406640" y="4238244"/>
            <a:ext cx="304851" cy="2286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748067" y="423824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191×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7406640" y="4562856"/>
            <a:ext cx="1417320" cy="2286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8860536" y="456285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888×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Scales as O(1) vs FD's O(N) — The Core Advantage</a:t>
            </a:r>
            <a:endParaRPr lang="en-US" sz="2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28600" y="877824"/>
          <a:ext cx="59436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355080" y="877824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55080" y="877824"/>
            <a:ext cx="64008" cy="14173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10528" y="9509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engines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10528" y="123444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 → 888×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510528" y="16002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(Black)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55080" y="2423160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55080" y="2423160"/>
            <a:ext cx="64008" cy="1234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10528" y="2496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Jacobian replay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10528" y="276148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35,548×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10528" y="319125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9×9 OIS zero-rate Jacobian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55080" y="3767328"/>
            <a:ext cx="2560320" cy="11338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55080" y="3767328"/>
            <a:ext cx="64008" cy="1133856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10528" y="38404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non-monotone?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10528" y="413308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N=14 risky bond (116×) &lt; N=9 OIS (136×) because risky bond has heavier forward pass overhead.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28600" y="4919472"/>
            <a:ext cx="8686800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320" y="491947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AAD cost ≤ 4× forward pricing, independent of N. FD cost = (N+1) × forward pricing — linear in 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Jacobian Benchmarks — Full Sensitivity Matrices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scenarios · OIS curve (9×9) and CDS curve (4×4)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Interest-Rate Jacobians (9×9 OIS curve)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" y="1152144"/>
            <a:ext cx="201168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5214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67712" y="1152144"/>
            <a:ext cx="14173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13432" y="11521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ZeroCurve (ms)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12464" y="115214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58184" y="115214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06824" y="1152144"/>
            <a:ext cx="150876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115214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Bootstrap (ms)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43016" y="115214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88736" y="115214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1490472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9047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(baseline)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67712" y="1490472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13432" y="1490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4,647.8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12464" y="149047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58184" y="149047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06824" y="1490472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1490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437.3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843016" y="149047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88736" y="149047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1828800"/>
            <a:ext cx="201168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182880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re-record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267712" y="1828800"/>
            <a:ext cx="14173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468.8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12464" y="182880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58184" y="182880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06824" y="1828800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52544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5,344.9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843016" y="182880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8736" y="182880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0.1× 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2167128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1671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Jacobian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67712" y="2167128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3432" y="21671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55.3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712464" y="216712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58184" y="216712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84×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306824" y="2167128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52544" y="21671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48.9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843016" y="216712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88736" y="216712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8600" y="2505456"/>
            <a:ext cx="201168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" y="25054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267712" y="2505456"/>
            <a:ext cx="141732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313432" y="25054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712464" y="250545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58184" y="250545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35,548×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306824" y="2505456"/>
            <a:ext cx="150876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52544" y="250545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843016" y="250545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88736" y="250545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168×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28600" y="3017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Jacobians (4×4 CDS curve)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28600" y="3346704"/>
            <a:ext cx="201168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346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2267712" y="3346704"/>
            <a:ext cx="14173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13432" y="33467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HazardRate (ms)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712464" y="334670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58184" y="334670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306824" y="3346704"/>
            <a:ext cx="150876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52544" y="33467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Bootstrap (ms)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843016" y="334670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88736" y="334670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228600" y="3685032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4320" y="36850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(baseline)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2267712" y="3685032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13432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17.0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712464" y="368503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758184" y="368503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306824" y="3685032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52544" y="36850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110.7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843016" y="368503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88736" y="368503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28600" y="4023360"/>
            <a:ext cx="201168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4320" y="40233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re-record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2267712" y="4023360"/>
            <a:ext cx="14173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313432" y="40233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712464" y="402336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758184" y="402336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4306824" y="4023360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52544" y="40233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5843016" y="402336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88736" y="402336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228600" y="4361688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7432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Jacobian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2267712" y="4361688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313432" y="4361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3712464" y="436168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758184" y="436168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4306824" y="4361688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52544" y="436168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843016" y="436168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888736" y="436168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89×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228600" y="4700016"/>
            <a:ext cx="201168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4320" y="470001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267712" y="4700016"/>
            <a:ext cx="141732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313432" y="47000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3712464" y="470001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758184" y="470001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85×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4306824" y="4700016"/>
            <a:ext cx="150876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52544" y="47000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843016" y="470001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888736" y="470001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53×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6492240" y="822960"/>
            <a:ext cx="2423160" cy="290779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9" name="Shape 107"/>
          <p:cNvSpPr/>
          <p:nvPr/>
        </p:nvSpPr>
        <p:spPr>
          <a:xfrm>
            <a:off x="6492240" y="822960"/>
            <a:ext cx="64008" cy="290779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656832" y="896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replay is so fast</a:t>
            </a:r>
            <a:endParaRPr lang="en-US" sz="1200" dirty="0"/>
          </a:p>
        </p:txBody>
      </p:sp>
      <p:sp>
        <p:nvSpPr>
          <p:cNvPr id="111" name="Text 109"/>
          <p:cNvSpPr/>
          <p:nvPr/>
        </p:nvSpPr>
        <p:spPr>
          <a:xfrm>
            <a:off x="6565392" y="1271016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Zero-rate curve built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directly — no solver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tiny tape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6565392" y="1865376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Replay cost: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~microseconds/sweep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6565392" y="2459736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FD rebuilds curve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N+1 times × 100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scenarios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6565392" y="3017520"/>
            <a:ext cx="2212848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565392" y="3054096"/>
            <a:ext cx="2212848" cy="4389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35,548× faster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FD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6492240" y="3858768"/>
            <a:ext cx="2423160" cy="117043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7" name="Shape 115"/>
          <p:cNvSpPr/>
          <p:nvPr/>
        </p:nvSpPr>
        <p:spPr>
          <a:xfrm>
            <a:off x="6492240" y="3858768"/>
            <a:ext cx="64008" cy="1170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56832" y="3931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wins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solver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6656832" y="43525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J = J_curve × J_pricing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each part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separately → 89× speedup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Speedup on the AAD Backward Pass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benefits scale with the REGULARITY and SIZE of the backward sweep — not with N (number of inputs).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228600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11155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42032" y="1115568"/>
            <a:ext cx="109728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15184" y="11155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Non-JIT (ms)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115568"/>
            <a:ext cx="91440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1115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JIT (ms)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99432" y="1115568"/>
            <a:ext cx="91440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2584" y="1115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Speedup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264" y="1115568"/>
            <a:ext cx="352044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14416" y="11155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character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15727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15727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Call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42032" y="15727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15184" y="15727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0.0014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0" y="1572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30752" y="1572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0.0013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99432" y="1572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2584" y="1572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1.08×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41264" y="15727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14416" y="15727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smooth formula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28600" y="20299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20299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(BAW)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542032" y="20299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15184" y="20299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0.0025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0" y="20299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30752" y="20299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0.0022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99432" y="20299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72584" y="20299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1.13×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541264" y="20299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14416" y="20299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analytic approx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28600" y="24871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24871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(B-S)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542032" y="24871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15184" y="24871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0.0030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657600" y="24871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30752" y="24871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0.0026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599432" y="24871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72584" y="24871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1.16×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541264" y="24871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14416" y="24871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analytic approx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8600" y="2944368"/>
            <a:ext cx="228600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1752" y="29443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(tree)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542032" y="2944368"/>
            <a:ext cx="109728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29443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0.5656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657600" y="2944368"/>
            <a:ext cx="91440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0752" y="29443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0.0839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99432" y="2944368"/>
            <a:ext cx="91440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2584" y="29443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6.74×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541264" y="2944368"/>
            <a:ext cx="352044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14416" y="29443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40-step trinomial loop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28600" y="34015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1752" y="34015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(Black)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2542032" y="34015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15184" y="34015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0.0086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3657600" y="34015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730752" y="3401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0.0081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4599432" y="34015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672584" y="3401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1.06×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541264" y="34015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14416" y="34015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caplet sum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28600" y="38587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01752" y="38587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2542032" y="38587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615184" y="38587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0.0343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3657600" y="3858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730752" y="3858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0.0309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599432" y="3858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72584" y="3858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1.11×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5541264" y="38587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14416" y="38587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solver tape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228600" y="3950208"/>
            <a:ext cx="429768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7472" y="39867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6.74× — Why?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347472" y="4169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40-step backward induction loop is tight and regular → AsmJit generates a tight native loop with no interpreter overhead.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54880" y="3950208"/>
            <a:ext cx="416052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882896" y="3986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analytic formulas 1.0–1.2× — Why?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4882896" y="4169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is already tiny. Interpreter overhead is negligible relative to the actual computation cost.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228600" y="4526280"/>
            <a:ext cx="8686800" cy="45720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helps most when: large tape + tight regular loops (tree induction, bootstrap iteration) + JIT-eligible engine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— When to Use Which Approach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237744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804672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87752" y="804672"/>
            <a:ext cx="150876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804672"/>
            <a:ext cx="1453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23944" y="804672"/>
            <a:ext cx="246888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78808" y="80467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0256" y="804672"/>
            <a:ext cx="128016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80467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" y="1161288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" y="1161288"/>
            <a:ext cx="64008" cy="448056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1161288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inputs (N ≤ 3), no solver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87752" y="1161288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2616" y="1161288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Differences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23944" y="1161288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78808" y="1161288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— no tape overhead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20256" y="1161288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1161288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82880" y="1636776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2880" y="1636776"/>
            <a:ext cx="64008" cy="44805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" y="1636776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inputs, analytic engine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87752" y="1636776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1636776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23944" y="1636776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78808" y="1636776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solver tape complexity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20256" y="1636776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636776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10–900×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82880" y="2112264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82880" y="2112264"/>
            <a:ext cx="64008" cy="44805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" y="211226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sweep, stable graph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587752" y="2112264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42616" y="211226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23944" y="2112264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78808" y="2112264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tape across 100s of scenarios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20256" y="2112264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2112264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50–250×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" y="2587752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82880" y="2587752"/>
            <a:ext cx="64008" cy="448056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2608" y="2587752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N×N Jacobian, direct curve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587752" y="2587752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42616" y="2587752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123944" y="2587752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78808" y="2587752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iterative solver → tiny tape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620256" y="2587752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75120" y="2587752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85–35,548×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2880" y="3063240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82880" y="3063240"/>
            <a:ext cx="64008" cy="4480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2608" y="3063240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Jacobian, through solver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587752" y="3063240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42616" y="3063240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factorisation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123944" y="3063240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78808" y="3063240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J = J_curve × J_pricing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620256" y="3063240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75120" y="3063240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4–89×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82880" y="3538728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" y="3538728"/>
            <a:ext cx="64008" cy="448056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92608" y="3538728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/ MC engines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587752" y="3538728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642616" y="3538728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re-record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123944" y="3538728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178808" y="3538728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Data-dependent branches; JIT ineligible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620256" y="3538728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75120" y="3538728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7F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2–36×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82880" y="4014216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82880" y="4014216"/>
            <a:ext cx="64008" cy="448056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2608" y="4014216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JIT-eligible + regular loop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587752" y="4014216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642616" y="4014216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JIT-compiled AAD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123944" y="4014216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178808" y="4014216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AsmJit kernel eliminates interpreter overhead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620256" y="4014216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675120" y="4014216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+1–7× over AAD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82880" y="4489704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2880" y="4489704"/>
            <a:ext cx="64008" cy="448056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92608" y="448970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Re-record through iterative solver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2587752" y="4489704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642616" y="448970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re-record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123944" y="4489704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178808" y="4489704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rebuild &gt; FD bumping (0.1–0.5× FD)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620256" y="4489704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675120" y="4489704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slower than FD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82880" y="804672"/>
            <a:ext cx="64008" cy="413308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502920" cy="179222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2296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1248" y="914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= O(1) in 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128016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backward sweep gives ALL N Greeks. Cost ≤ 4× forward pricing regardless of input count.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82296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18688" y="822960"/>
            <a:ext cx="502920" cy="1792224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82296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85616" y="914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+ QL_REAL Swap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85616" y="128016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double with xad::AReal&lt;double&gt; via QL_INCLUDE_FIRST. Zero QuantLib source changes.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82296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822960"/>
            <a:ext cx="502920" cy="17922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82296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9984" y="914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&gt; Re-record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29984" y="128016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tape across scenarios. Re-record rebuilds through solvers — can be slower than FD.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2788920"/>
            <a:ext cx="502920" cy="1792224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78892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" y="28803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 Kernel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" y="324612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Tape→Graph→x86-64 native code. AVX2 backend: 4 parallel evals. 6.7× on callable bond tree.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18688" y="278892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8688" y="2788920"/>
            <a:ext cx="502920" cy="1792224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18688" y="278892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785616" y="28803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Branching Limit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785616" y="324612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kernels only. PDE/MC/ISDA engines with data-dependent if-on-Real are ineligible.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278892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63056" y="2788920"/>
            <a:ext cx="502920" cy="179222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3056" y="278892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729984" y="28803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35,548× Speedup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29984" y="324612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 zero-rate Jacobian replay vs FD. 888× for IR Cap, 191× for IRS, 254× for ISDA CDS batch.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400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Second-Order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320040" y="15544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Sensitivities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320040" y="25146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QuantLib via FD-over-AAD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320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65836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QuantLib compiled with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first-order AAD only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7099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bump on top of AAD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derivatives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Speedups seen: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83464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95160" y="28346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(N=18)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324612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95160" y="32461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 (N=17)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365760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26×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95160" y="36576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Bond (N=14)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406908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95160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(N=6)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FD-over-AAD for Second-Order?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9494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recompilation needed — exploit existing first-order AAD infrastructure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914400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∂²V / ∂xᵢ∂xⱼ  ≈  ( ∂V/∂xⱼ|ₓᵢ₊ₕ  −  ∂V/∂xⱼ|ₓᵢ ) / 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AAD recording yields the full gradient vector — one bump gives an entire Hessian row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011680"/>
            <a:ext cx="4023360" cy="36576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Finite Differences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37744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2377440"/>
            <a:ext cx="4023360" cy="379476"/>
          </a:xfrm>
          <a:prstGeom prst="rect">
            <a:avLst/>
          </a:prstGeom>
          <a:solidFill>
            <a:srgbClr val="FFF0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37744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37360" y="2377440"/>
            <a:ext cx="24688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N(N+1)/2 + 1 pricings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756916"/>
            <a:ext cx="4023360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5691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 (Euro)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37360" y="2756916"/>
            <a:ext cx="24688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full pricings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136392"/>
            <a:ext cx="4023360" cy="379476"/>
          </a:xfrm>
          <a:prstGeom prst="rect">
            <a:avLst/>
          </a:prstGeom>
          <a:solidFill>
            <a:srgbClr val="FFF0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3639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N=17 (IRS)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37360" y="3136392"/>
            <a:ext cx="24688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full pricings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515868"/>
            <a:ext cx="4023360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51586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 (Cap)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37360" y="3515868"/>
            <a:ext cx="24688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full pricings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895344"/>
            <a:ext cx="4023360" cy="379476"/>
          </a:xfrm>
          <a:prstGeom prst="rect">
            <a:avLst/>
          </a:prstGeom>
          <a:solidFill>
            <a:srgbClr val="FFF0F0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89534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737360" y="3895344"/>
            <a:ext cx="24688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O(h) truncation error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4274820"/>
            <a:ext cx="4023360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27482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as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37360" y="4274820"/>
            <a:ext cx="24688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2011680"/>
            <a:ext cx="4023360" cy="36576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FD-over-AAD  ✓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46320" y="237744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2377440"/>
            <a:ext cx="4023360" cy="379476"/>
          </a:xfrm>
          <a:prstGeom prst="rect">
            <a:avLst/>
          </a:prstGeom>
          <a:solidFill>
            <a:srgbClr val="F0FF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2377440"/>
            <a:ext cx="14630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2377440"/>
            <a:ext cx="23774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N+1 AAD tape recordings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46320" y="2756916"/>
            <a:ext cx="4023360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756916"/>
            <a:ext cx="14630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 (Euro)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2756916"/>
            <a:ext cx="23774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recordings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46320" y="3136392"/>
            <a:ext cx="4023360" cy="379476"/>
          </a:xfrm>
          <a:prstGeom prst="rect">
            <a:avLst/>
          </a:prstGeom>
          <a:solidFill>
            <a:srgbClr val="F0FF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136392"/>
            <a:ext cx="14630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N=17 (IRS)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3136392"/>
            <a:ext cx="23774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recordings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846320" y="3515868"/>
            <a:ext cx="4023360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3515868"/>
            <a:ext cx="14630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 (Cap)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15868"/>
            <a:ext cx="23774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recordings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846320" y="3895344"/>
            <a:ext cx="4023360" cy="379476"/>
          </a:xfrm>
          <a:prstGeom prst="rect">
            <a:avLst/>
          </a:prstGeom>
          <a:solidFill>
            <a:srgbClr val="F0FF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37760" y="3895344"/>
            <a:ext cx="14630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0" y="3895344"/>
            <a:ext cx="23774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precision 1st deriv.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846320" y="4274820"/>
            <a:ext cx="4023360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0" y="4274820"/>
            <a:ext cx="14630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as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400800" y="4274820"/>
            <a:ext cx="23774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 ← key advantage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315968" y="2651760"/>
            <a:ext cx="51206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15968" y="2651760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Hessian Matrix — What Second-Order Greeks Capture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Hᵢⱼ = ∂²NPV / ∂xᵢ ∂xⱼ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4320" y="116128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Symmetric, N×N matrix capturing all curvature and cross-sensitivities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206240" cy="1463040"/>
          </a:xfrm>
          <a:prstGeom prst="rect">
            <a:avLst/>
          </a:prstGeom>
          <a:solidFill>
            <a:srgbClr val="1A3A4A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508760"/>
            <a:ext cx="73152" cy="1463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6002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Gamma  ∂²V/∂S²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19659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of delta. Captures P&amp;L from hedge rebalancing. Key for equity options — validated against analytic BSM.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4206240" cy="1463040"/>
          </a:xfrm>
          <a:prstGeom prst="rect">
            <a:avLst/>
          </a:prstGeom>
          <a:solidFill>
            <a:srgbClr val="1A3A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08760"/>
            <a:ext cx="73152" cy="14630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6002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Vanna  ∂²V/∂S∂σ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19659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Cross-sensitivity of delta to vol (and vega to spot). Drives hedging of skew exposure in vol surfaces.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154680"/>
            <a:ext cx="4206240" cy="1463040"/>
          </a:xfrm>
          <a:prstGeom prst="rect">
            <a:avLst/>
          </a:prstGeom>
          <a:solidFill>
            <a:srgbClr val="1A3A4A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3154680"/>
            <a:ext cx="73152" cy="1463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246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Volga / Vomma  ∂²V/∂σ²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" y="36118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of vega. Quantifies vol-of-vol exposure. Critical for exotic option vol book hedging.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154680"/>
            <a:ext cx="4206240" cy="1463040"/>
          </a:xfrm>
          <a:prstGeom prst="rect">
            <a:avLst/>
          </a:prstGeom>
          <a:solidFill>
            <a:srgbClr val="1A3A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3154680"/>
            <a:ext cx="73152" cy="14630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3246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Cross-Gamma  ∂²NPV/∂rᵢ∂rⱼ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19472" y="36118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sensitivity to pillar i changes when pillar j moves. Full N×N cross-gamma matrix captures curve interaction structure.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709160"/>
            <a:ext cx="8595360" cy="338328"/>
          </a:xfrm>
          <a:prstGeom prst="rect">
            <a:avLst/>
          </a:prstGeom>
          <a:solidFill>
            <a:srgbClr val="192D40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709160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Diagonal Hᵢᵢ = curvature (convexity)   |   Off-diagonal Hᵢⱼ = cross-gamma (interactions)   |   Symmetry: Hᵢⱼ = Hⱼᵢ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FD-over-AAD — Implementation Pattern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5303520" cy="4251960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2296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compute_greeks(input_vals):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10012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tape = Tape(); tape.activate()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117957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reals = [ql.Real(v) for v in input_vals]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578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tape.registerInputs(reals)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tape.newRecording()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7145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... build curve, price instrument ...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18928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npv = instrument.NPV()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07111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tape.registerOutput(npv)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2494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npv.derivative = 1.0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42773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tape.computeAdjoints()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6060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[tape.derivative(r) for r in reals]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7843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296265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Base case → gradient vector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31409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grad_base = compute_greeks(inputs)  # ∇V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331927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349758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bumped recordings → Hessian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367588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range(N):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38541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bumped = inputs.copy()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0325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bumped[i] += h  # h = 1e-5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42108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grad_b = compute_greeks(bumped)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43891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H[i] = [(g_b-g_0)/h for g_b,g_0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1480" y="45674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in zip(grad_b, grad_base)]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60720" y="822960"/>
            <a:ext cx="310896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60720" y="822960"/>
            <a:ext cx="64008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7880" y="859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1–3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97880" y="1115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AAD tape setup — same as first-order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760720" y="1645920"/>
            <a:ext cx="310896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60720" y="1645920"/>
            <a:ext cx="64008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16824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4–6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97880" y="1938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sweep yields full gradient ∇V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60720" y="2606040"/>
            <a:ext cx="310896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60720" y="2606040"/>
            <a:ext cx="64008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97880" y="2642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89788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(N+1) total recordings for full N×N Hessian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60720" y="3383280"/>
            <a:ext cx="310896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60720" y="3383280"/>
            <a:ext cx="64008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97880" y="34198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 bumps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89788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gives one full row of the Hessian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760720" y="4572000"/>
            <a:ext cx="3108960" cy="45720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cost: (N+1) × AAD tape recordings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European Option — Gamma, Vanna, Volga (N=4)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8595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AnalyticEuropeanEngine  ·  S=7, K=8, σ=0.1, r=q=0.05, T=1Y  ·  NPV = 0.03033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120640" cy="347472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 BSM Validation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5120640" cy="347472"/>
          </a:xfrm>
          <a:prstGeom prst="rect">
            <a:avLst/>
          </a:prstGeom>
          <a:solidFill>
            <a:srgbClr val="1A354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533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31720" y="13533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37560" y="13533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BSM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43400" y="135331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|Δ|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700784"/>
            <a:ext cx="5120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7007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Gamma  ∂²V/∂S²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17007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0.23778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7007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0.23734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43400" y="170078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99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4.4e-04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048256"/>
            <a:ext cx="5120640" cy="347472"/>
          </a:xfrm>
          <a:prstGeom prst="rect">
            <a:avLst/>
          </a:prstGeom>
          <a:solidFill>
            <a:srgbClr val="E8F4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0482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Vanna  ∂²V/∂S∂σ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31720" y="20482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2.30621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20482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2.30149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43400" y="204825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99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4.7e-03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395728"/>
            <a:ext cx="5120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3957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Volga  ∂²V/∂σ²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31720" y="239572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20.7436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37560" y="239572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20.7070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43400" y="239572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99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3.7e-02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2834640"/>
            <a:ext cx="51206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8346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4×4 Hessian (FD-over-AAD)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3182112"/>
            <a:ext cx="5120640" cy="33832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" y="3182112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8952" y="3182112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(spot)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901952" y="3182112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(div)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044952" y="3182112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(vol)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33672" y="3182112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(rate)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3520440"/>
            <a:ext cx="5120640" cy="33832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1752" y="3520440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58952" y="3520440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0.2378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901952" y="3520440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-1.7692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44952" y="3520440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2.3062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233672" y="3520440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1.6736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3858768"/>
            <a:ext cx="5120640" cy="338328"/>
          </a:xfrm>
          <a:prstGeom prst="rect">
            <a:avLst/>
          </a:prstGeom>
          <a:solidFill>
            <a:srgbClr val="1A2E3E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85876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58952" y="3858768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-1.7690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901952" y="3858768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12.4511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044952" y="3858768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-16.231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233672" y="3858768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-11.778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74320" y="4197096"/>
            <a:ext cx="5120640" cy="33832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1752" y="4197096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58952" y="4197096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2.3062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901952" y="4197096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-16.232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4952" y="4197096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20.744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233672" y="4197096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15.054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4535424"/>
            <a:ext cx="5120640" cy="338328"/>
          </a:xfrm>
          <a:prstGeom prst="rect">
            <a:avLst/>
          </a:prstGeom>
          <a:solidFill>
            <a:srgbClr val="1A2E3E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1752" y="4535424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58952" y="4535424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1.6736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901952" y="4535424"/>
            <a:ext cx="1143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-11.780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044952" y="4535424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15.054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233672" y="4535424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11.137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0" y="1005840"/>
            <a:ext cx="3200400" cy="4023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669280" y="1005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Timing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5715000" y="1508760"/>
            <a:ext cx="3108960" cy="512064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0720" y="15087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15087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 ms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818120" y="150876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recordings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715000" y="2020824"/>
            <a:ext cx="3108960" cy="512064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0720" y="20208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949440" y="20208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1.36 ms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818120" y="202082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pricings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715000" y="2532888"/>
            <a:ext cx="3108960" cy="512064"/>
          </a:xfrm>
          <a:prstGeom prst="rect">
            <a:avLst/>
          </a:prstGeom>
          <a:solidFill>
            <a:srgbClr val="009E83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60720" y="25328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949440" y="25328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1.36×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818120" y="253288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760720" y="3154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N=4 is a small case.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 grows with N.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715000" y="3840480"/>
            <a:ext cx="3108960" cy="1051560"/>
          </a:xfrm>
          <a:prstGeom prst="rect">
            <a:avLst/>
          </a:prstGeom>
          <a:solidFill>
            <a:srgbClr val="192D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806440" y="3886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check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806440" y="41605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|H[i,j] − H[j,i]| = 1.57e-03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Relative error vs FD = 6.1e-05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Both methods agree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Vanilla IRS &amp; IR Cap — Rate Curve Hessians (N=17, 18)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4251960" cy="36576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74980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5Y Payer IRS  (N = 17)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4251960" cy="1783080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61288"/>
            <a:ext cx="4069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NPV = 11,109  ·  1 deposit + 3 FRA + 8 futures + 5 swaps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Hessian near-zero → IRS is (almost) linear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Dominant entry: Swap5Y×Swap5Y = −12,684,044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Symmetry: max|Hᵢⱼ−Hⱼᵢ| = 62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Relative error vs FD = 6.9e-04  ✅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2926080"/>
            <a:ext cx="4251960" cy="502920"/>
          </a:xfrm>
          <a:prstGeom prst="rect">
            <a:avLst/>
          </a:prstGeom>
          <a:solidFill>
            <a:srgbClr val="E0F4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926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29260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9E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38.3 ms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64992" y="29260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rec.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3429000"/>
            <a:ext cx="4251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31720" y="3429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9E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756.6 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64992" y="3429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579 prx.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3931920"/>
            <a:ext cx="4251960" cy="502920"/>
          </a:xfrm>
          <a:prstGeom prst="rect">
            <a:avLst/>
          </a:prstGeom>
          <a:solidFill>
            <a:srgbClr val="009E83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931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3931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19.8×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64992" y="3931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4498848"/>
            <a:ext cx="425196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49884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Cross-gamma sparsity: adjacent swap pillars interact strongly; distant ones near-zero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749808"/>
            <a:ext cx="4160520" cy="3657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10Y IR Cap on Euribor3M  (N = 18)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115568"/>
            <a:ext cx="4160520" cy="1783080"/>
          </a:xfrm>
          <a:prstGeom prst="rect">
            <a:avLst/>
          </a:prstGeom>
          <a:solidFill>
            <a:srgbClr val="192D40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161288"/>
            <a:ext cx="3977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NPV = 54,535  ·  17 rate inputs + 1 Black vol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Dominant: Swap7Y×Swap7Y = +529,107,728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 block: Black Vol × Black Vol = 36,121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Rate×Vol cross: Swap10Y × BlackVol = 3,515,203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Symmetry: max|Hᵢⱼ−Hⱼᵢ| = 2.78e+05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Relative error vs FD = 4.1e-04  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2926080"/>
            <a:ext cx="4160520" cy="502920"/>
          </a:xfrm>
          <a:prstGeom prst="rect">
            <a:avLst/>
          </a:prstGeom>
          <a:solidFill>
            <a:srgbClr val="FCF0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926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0" y="29260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53.0 ms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91272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rec.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342900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429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1077.7 ms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891272" y="34290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649 prx.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3931920"/>
            <a:ext cx="4160520" cy="502920"/>
          </a:xfrm>
          <a:prstGeom prst="rect">
            <a:avLst/>
          </a:prstGeom>
          <a:solidFill>
            <a:srgbClr val="B8504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3931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0" y="3931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20.3×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91272" y="3931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4498848"/>
            <a:ext cx="416052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44988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Rate×Vol block captures vanna-like interactions between yield curve and Black vol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Risky Bond &amp; CDS — IR/Credit Hessian Blocks (N=14, 6)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4251960" cy="36576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74980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5Y Risky Bond  (N = 14)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4251960" cy="347472"/>
          </a:xfrm>
          <a:prstGeom prst="rect">
            <a:avLst/>
          </a:prstGeom>
          <a:solidFill>
            <a:srgbClr val="1A354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155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Hessian Block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37360" y="111556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|entry|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68880" y="111556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pair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463040"/>
            <a:ext cx="42519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46304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 × IR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37360" y="146304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776.9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68880" y="14630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OIS 5Y × OIS 5Y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1810512"/>
            <a:ext cx="4251960" cy="347472"/>
          </a:xfrm>
          <a:prstGeom prst="rect">
            <a:avLst/>
          </a:prstGeom>
          <a:solidFill>
            <a:srgbClr val="E8F4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1051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 × CR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181051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1,242.4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68880" y="18105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5Y × CDS 5Y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2157984"/>
            <a:ext cx="4251960" cy="347472"/>
          </a:xfrm>
          <a:prstGeom prst="rect">
            <a:avLst/>
          </a:prstGeom>
          <a:solidFill>
            <a:srgbClr val="1F382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15798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 × CR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37360" y="215798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2,884.2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21579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OIS 5Y × CDS 5Y  ← largest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2505456"/>
            <a:ext cx="4251960" cy="347472"/>
          </a:xfrm>
          <a:prstGeom prst="rect">
            <a:avLst/>
          </a:prstGeom>
          <a:solidFill>
            <a:srgbClr val="E8F4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 × Rec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37360" y="25054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50.7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468880" y="25054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OIS 5Y × Recovery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8600" y="2852928"/>
            <a:ext cx="42519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85292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 × Rec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737360" y="285292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468880" y="28529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3Y × Recovery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" y="2871216"/>
            <a:ext cx="4251960" cy="566928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2889504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IR×CR cross-gamma shows significant OIS 5Y / CDS 5Y interaction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non-trivial curvature missed by first-order sensitivities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" y="3520440"/>
            <a:ext cx="4251960" cy="512064"/>
          </a:xfrm>
          <a:prstGeom prst="rect">
            <a:avLst/>
          </a:prstGeom>
          <a:solidFill>
            <a:srgbClr val="E0F4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5204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331720" y="35204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9E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925 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93008" y="35204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rec.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" y="4032504"/>
            <a:ext cx="4251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0325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331720" y="40325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9E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23,935 ms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493008" y="403250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 prx.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4544568"/>
            <a:ext cx="4251960" cy="512064"/>
          </a:xfrm>
          <a:prstGeom prst="rect">
            <a:avLst/>
          </a:prstGeom>
          <a:solidFill>
            <a:srgbClr val="009E83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54456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331720" y="45445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25.9×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493008" y="45445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54880" y="749808"/>
            <a:ext cx="4160520" cy="3657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2Y CDS  (N = 6)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754880" y="1115568"/>
            <a:ext cx="4160520" cy="2331720"/>
          </a:xfrm>
          <a:prstGeom prst="rect">
            <a:avLst/>
          </a:prstGeom>
          <a:solidFill>
            <a:srgbClr val="192D40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1161288"/>
            <a:ext cx="39776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NPV = 41.09  ·  4 CDS spreads + recovery + risk-free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Dominant: CDS 2Y × CDS 2Y = 3,998,841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 × CDS 2Y = 124,815  (wrong-way risk)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3Y and above → zero (past maturity)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Symmetry: max|Hᵢⱼ−Hⱼᵢ| = 691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Relative error vs FD = 2.38e-04  ✅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Key: Recovery × spread cross-gammas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credit convexity for CVA/wrong-way risk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754880" y="3520440"/>
            <a:ext cx="4160520" cy="512064"/>
          </a:xfrm>
          <a:prstGeom prst="rect">
            <a:avLst/>
          </a:prstGeom>
          <a:solidFill>
            <a:srgbClr val="FCF0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46320" y="35204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858000" y="35204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 ms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799832" y="352044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rec.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754880" y="4032504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46320" y="40325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FD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858000" y="403250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25.0 ms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799832" y="403250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prx.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754880" y="4544568"/>
            <a:ext cx="4160520" cy="512064"/>
          </a:xfrm>
          <a:prstGeom prst="rect">
            <a:avLst/>
          </a:prstGeom>
          <a:solidFill>
            <a:srgbClr val="B8504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46320" y="454456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858000" y="45445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6.0×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799832" y="454456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 Summary — FD-over-AAD vs Pure FD Hessian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41148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08760" y="777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7772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AAD rec.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7772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FD prx.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63440" y="777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AAD time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06440" y="7772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FD time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777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Speedup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0" y="777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Rel.Err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188720"/>
            <a:ext cx="8595360" cy="457200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1887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European Option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08760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1188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1188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1188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 ms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806440" y="1188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 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03720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1.4×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63840" y="1188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6.1e-05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1645920"/>
            <a:ext cx="8595360" cy="457200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087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66160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663440" y="1645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 ms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06440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25.0 ms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0372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863840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2.4e-04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" y="2103120"/>
            <a:ext cx="8595360" cy="457200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Risky Bond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08760" y="2103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2103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66160" y="2103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344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925 ms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806440" y="2103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23,935 ms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03720" y="2103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25.9×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86384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8.5e-06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2560320"/>
            <a:ext cx="8595360" cy="457200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560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Vanilla IRS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50876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468880" y="2560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566160" y="2560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63440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38.3 ms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806440" y="2560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756.6 ms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90372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19.8×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863840" y="2560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6.9e-04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" y="3017520"/>
            <a:ext cx="8595360" cy="457200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 Cap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508760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468880" y="3017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566160" y="3017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172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63440" y="3017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53.0 ms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806440" y="3017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1,077.7 ms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903720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20.3×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863840" y="30175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4.1e-04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3547872"/>
            <a:ext cx="8595360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7307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Scaling: O(N) vs O(N²)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274320" y="41148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49808" y="4114800"/>
            <a:ext cx="222220" cy="146304"/>
          </a:xfrm>
          <a:prstGeom prst="rect">
            <a:avLst/>
          </a:prstGeom>
          <a:solidFill>
            <a:srgbClr val="B85042">
              <a:alpha val="80000"/>
            </a:srgbClr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9808" y="4114800"/>
            <a:ext cx="101009" cy="14630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4320" y="42976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49808" y="4297680"/>
            <a:ext cx="444441" cy="146304"/>
          </a:xfrm>
          <a:prstGeom prst="rect">
            <a:avLst/>
          </a:prstGeom>
          <a:solidFill>
            <a:srgbClr val="B85042">
              <a:alpha val="80000"/>
            </a:srgbClr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9808" y="4297680"/>
            <a:ext cx="141413" cy="14630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" y="448056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N=14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749808" y="4480560"/>
            <a:ext cx="2141397" cy="146304"/>
          </a:xfrm>
          <a:prstGeom prst="rect">
            <a:avLst/>
          </a:prstGeom>
          <a:solidFill>
            <a:srgbClr val="B85042">
              <a:alpha val="80000"/>
            </a:srgbClr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49808" y="4480560"/>
            <a:ext cx="303028" cy="14630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4320" y="466344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N=17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749808" y="4663440"/>
            <a:ext cx="3111087" cy="146304"/>
          </a:xfrm>
          <a:prstGeom prst="rect">
            <a:avLst/>
          </a:prstGeom>
          <a:solidFill>
            <a:srgbClr val="B85042">
              <a:alpha val="80000"/>
            </a:srgbClr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9808" y="4663440"/>
            <a:ext cx="363633" cy="14630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74320" y="484632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49808" y="4846320"/>
            <a:ext cx="3474720" cy="146304"/>
          </a:xfrm>
          <a:prstGeom prst="rect">
            <a:avLst/>
          </a:prstGeom>
          <a:solidFill>
            <a:srgbClr val="B85042">
              <a:alpha val="80000"/>
            </a:srgbClr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9808" y="4846320"/>
            <a:ext cx="383835" cy="14630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49808" y="5047488"/>
            <a:ext cx="201168" cy="10972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78408" y="502920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  O(N)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2514600" y="5047488"/>
            <a:ext cx="201168" cy="10972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743200" y="5029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FD  O(N²)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4754880" y="3675888"/>
            <a:ext cx="4114800" cy="484632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0" y="3675888"/>
            <a:ext cx="64008" cy="48463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892040" y="36758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vs O(N²)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892040" y="38587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FD-over-AAD cost grows linearly. Pure FD Hessian grows quadratically. Gap widens with N.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754880" y="4160520"/>
            <a:ext cx="4114800" cy="484632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754880" y="4160520"/>
            <a:ext cx="64008" cy="48463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92040" y="41605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errors &lt; 1%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892040" y="4343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errors range from 8.5e-06 to 6.9e-04 across all instruments — well within tolerance.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4754880" y="4645152"/>
            <a:ext cx="4114800" cy="484632"/>
          </a:xfrm>
          <a:prstGeom prst="rect">
            <a:avLst/>
          </a:prstGeom>
          <a:solidFill>
            <a:srgbClr val="192D40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54880" y="4645152"/>
            <a:ext cx="64008" cy="48463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92040" y="46451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Bond: 25.9×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892040" y="48280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absolute speedup. 15 recordings vs 393 pricings. Each recording is ~62 ms.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4754880" y="5138928"/>
            <a:ext cx="4114800" cy="64008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846320" y="514807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Platform: Linux x86_64  ·  Python 3.13.5  ·  3 repetitions (median)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0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Wheel: quantlib_risks-1.33.3-cp313-cp313-manylinux_2_39_x86_64.whl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Future: Native Second-Order AAD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AReal&lt;FReal&lt;double&gt;&gt; — forward-over-adjoint for analytic Hessians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4114800" cy="365760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241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 — FD-over-AAD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24128"/>
            <a:ext cx="411480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0241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— Native 2nd-Order XAD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389888"/>
            <a:ext cx="4114800" cy="384048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389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Real = AReal&lt;double&gt;  (first-order)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773936"/>
            <a:ext cx="4114800" cy="38404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7739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(N+1) full AAD recordings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157984"/>
            <a:ext cx="4114800" cy="384048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15798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O(h) FD error on 2nd derivatives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42032"/>
            <a:ext cx="4114800" cy="38404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5420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No recompilation needed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4114800" cy="384048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9260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Works today with existing wheel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389888"/>
            <a:ext cx="4114800" cy="384048"/>
          </a:xfrm>
          <a:prstGeom prst="rect">
            <a:avLst/>
          </a:prstGeom>
          <a:solidFill>
            <a:srgbClr val="222B1A"/>
          </a:solidFill>
          <a:ln w="12700">
            <a:solidFill>
              <a:srgbClr val="3344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389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Real = AReal&lt;FReal&lt;double&gt;&gt;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1773936"/>
            <a:ext cx="4114800" cy="384048"/>
          </a:xfrm>
          <a:prstGeom prst="rect">
            <a:avLst/>
          </a:prstGeom>
          <a:solidFill>
            <a:srgbClr val="1C2416"/>
          </a:solidFill>
          <a:ln w="12700">
            <a:solidFill>
              <a:srgbClr val="3344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7739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N forward-over-adjoint sweeps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157984"/>
            <a:ext cx="4114800" cy="384048"/>
          </a:xfrm>
          <a:prstGeom prst="rect">
            <a:avLst/>
          </a:prstGeom>
          <a:solidFill>
            <a:srgbClr val="222B1A"/>
          </a:solidFill>
          <a:ln w="12700">
            <a:solidFill>
              <a:srgbClr val="3344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15798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Machine precision 2nd derivatives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542032"/>
            <a:ext cx="4114800" cy="384048"/>
          </a:xfrm>
          <a:prstGeom prst="rect">
            <a:avLst/>
          </a:prstGeom>
          <a:solidFill>
            <a:srgbClr val="1C2416"/>
          </a:solidFill>
          <a:ln w="12700">
            <a:solidFill>
              <a:srgbClr val="3344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5420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Separate build / wheel required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926080"/>
            <a:ext cx="4114800" cy="384048"/>
          </a:xfrm>
          <a:prstGeom prst="rect">
            <a:avLst/>
          </a:prstGeom>
          <a:solidFill>
            <a:srgbClr val="222B1A"/>
          </a:solidFill>
          <a:ln w="12700">
            <a:solidFill>
              <a:srgbClr val="3344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9260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~2× tape memory, ~½ fwd speed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8595360" cy="347472"/>
          </a:xfrm>
          <a:prstGeom prst="rect">
            <a:avLst/>
          </a:prstGeom>
          <a:solidFill>
            <a:srgbClr val="1A382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310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would need to change for native 2nd-order: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74320" y="3712464"/>
            <a:ext cx="8595360" cy="33832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3712464"/>
            <a:ext cx="274320" cy="338328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712464"/>
            <a:ext cx="274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1792" y="3712464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qlrisks.hpp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87168" y="3712464"/>
            <a:ext cx="6263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specialisations for AReal&lt;FReal&lt;double&gt;&gt; nested type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4050792"/>
            <a:ext cx="8595360" cy="338328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" y="4050792"/>
            <a:ext cx="274320" cy="338328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4050792"/>
            <a:ext cx="274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1792" y="4050792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SWIG typemaps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487168" y="4050792"/>
            <a:ext cx="6263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AReal&lt;FReal&lt;double&gt;&gt; ↔ Python object (types.i)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74320" y="4389120"/>
            <a:ext cx="8595360" cy="338328"/>
          </a:xfrm>
          <a:prstGeom prst="rect">
            <a:avLst/>
          </a:prstGeom>
          <a:solidFill>
            <a:srgbClr val="192D4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4320" y="4389120"/>
            <a:ext cx="274320" cy="338328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389120"/>
            <a:ext cx="274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1792" y="438912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separate wheel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487168" y="4389120"/>
            <a:ext cx="6263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quantlib_risks_2nd — cannot share with first-order wheel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74320" y="4727448"/>
            <a:ext cx="8595360" cy="338328"/>
          </a:xfrm>
          <a:prstGeom prst="rect">
            <a:avLst/>
          </a:prstGeom>
          <a:solidFill>
            <a:srgbClr val="162030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320" y="4727448"/>
            <a:ext cx="274320" cy="338328"/>
          </a:xfrm>
          <a:prstGeom prst="rect">
            <a:avLst/>
          </a:prstGeom>
          <a:solidFill>
            <a:srgbClr val="009E83"/>
          </a:solidFill>
          <a:ln w="12700">
            <a:solidFill>
              <a:srgbClr val="009E8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" y="4727448"/>
            <a:ext cx="274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21792" y="472744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all engines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487168" y="4727448"/>
            <a:ext cx="6263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compatibility with QuantLib engines and curve builders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3716</Words>
  <Application>Microsoft Office PowerPoint</Application>
  <PresentationFormat>On-screen Show (16:9)</PresentationFormat>
  <Paragraphs>859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Consolas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AAD &amp; JIT in QuantLib</dc:title>
  <dc:subject>PptxGenJS Presentation</dc:subject>
  <dc:creator>PptxGenJS</dc:creator>
  <cp:lastModifiedBy>Jude Jin</cp:lastModifiedBy>
  <cp:revision>2</cp:revision>
  <dcterms:created xsi:type="dcterms:W3CDTF">2026-02-28T18:47:57Z</dcterms:created>
  <dcterms:modified xsi:type="dcterms:W3CDTF">2026-03-02T21:51:55Z</dcterms:modified>
</cp:coreProperties>
</file>