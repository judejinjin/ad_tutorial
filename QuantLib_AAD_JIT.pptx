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sz="1300" b="1" i="0" u="none" strike="noStrike">
                <a:solidFill>
                  <a:srgbClr val="0A1628"/>
                </a:solidFill>
                <a:latin typeface="Arial"/>
              </a:rPr>
              <a:t>FD ÷ AAD Speedup by Input Count (N)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FD ÷ AAD Speedup</c:v>
                </c:pt>
              </c:strCache>
            </c:strRef>
          </c:tx>
          <c:spPr>
            <a:solidFill>
              <a:srgbClr val="007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N=3
Swaption</c:v>
                  </c:pt>
                  <c:pt idx="1">
                    <c:v>N=4
Eur Call</c:v>
                  </c:pt>
                  <c:pt idx="2">
                    <c:v>N=5
Basket MC</c:v>
                  </c:pt>
                  <c:pt idx="3">
                    <c:v>N=6
CDS MidPt</c:v>
                  </c:pt>
                  <c:pt idx="4">
                    <c:v>N=9
SOFR OIS</c:v>
                  </c:pt>
                  <c:pt idx="5">
                    <c:v>N=14
Risky Bond</c:v>
                  </c:pt>
                  <c:pt idx="6">
                    <c:v>N=17
IRS</c:v>
                  </c:pt>
                  <c:pt idx="7">
                    <c:v>N=18
IR Cap</c:v>
                  </c:pt>
                  <c:pt idx="8">
                    <c:v>N=20
ISDA CDS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</c:v>
                </c:pt>
                <c:pt idx="1">
                  <c:v>17</c:v>
                </c:pt>
                <c:pt idx="2">
                  <c:v>36</c:v>
                </c:pt>
                <c:pt idx="3">
                  <c:v>63</c:v>
                </c:pt>
                <c:pt idx="4">
                  <c:v>136</c:v>
                </c:pt>
                <c:pt idx="5">
                  <c:v>116</c:v>
                </c:pt>
                <c:pt idx="6">
                  <c:v>191</c:v>
                </c:pt>
                <c:pt idx="7">
                  <c:v>888</c:v>
                </c:pt>
                <c:pt idx="8">
                  <c:v>254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50292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&amp; JIT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47472" y="14173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QuantLib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7472" y="22860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Algorithmic Differentiation &amp; JIT Compilation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High-Performance Greeks Computation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154680"/>
            <a:ext cx="1325880" cy="329184"/>
          </a:xfrm>
          <a:prstGeom prst="rect">
            <a:avLst/>
          </a:prstGeom>
          <a:solidFill>
            <a:srgbClr val="00A88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 Library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83080" y="3154680"/>
            <a:ext cx="1325880" cy="329184"/>
          </a:xfrm>
          <a:prstGeom prst="rect">
            <a:avLst/>
          </a:prstGeom>
          <a:solidFill>
            <a:srgbClr val="00A88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JIT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3154680"/>
            <a:ext cx="1325880" cy="329184"/>
          </a:xfrm>
          <a:prstGeom prst="rect">
            <a:avLst/>
          </a:prstGeom>
          <a:solidFill>
            <a:srgbClr val="00A88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QuantLib-Risks-Py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54296" y="3154680"/>
            <a:ext cx="1325880" cy="329184"/>
          </a:xfrm>
          <a:prstGeom prst="rect">
            <a:avLst/>
          </a:prstGeom>
          <a:solidFill>
            <a:srgbClr val="00A88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C++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640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Greeks = N+1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pricings with FD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backward sweep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yields ALL Greeks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seen: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035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888× IR Cap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34381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191× Vanilla IRS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3840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116× Risky Bond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2428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35,548× Jacobian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AAD? The Cost of Finite Differences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46888" y="62179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for N market inputs with traditional bumping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64008" cy="402336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4160520" cy="43891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Differences (Traditional)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∂V/∂xᵢ  ≈  [V(xᵢ+h) − V(xᵢ)] / 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1280160" cy="41148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47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64208" y="184708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+ 1 pricings for N inputs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1280160" cy="41148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2257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18 (IR Cap)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64208" y="2322576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full pricings per Greeks 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98064"/>
            <a:ext cx="1280160" cy="41148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9806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(ISDA CDS)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64208" y="279806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full pricings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1280160" cy="41148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73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64208" y="327355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 + round-off errors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749040"/>
            <a:ext cx="1280160" cy="41148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49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64208" y="374904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 N — prohibitive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curves / portfolios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822960"/>
            <a:ext cx="4343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822960"/>
            <a:ext cx="64008" cy="4023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822960"/>
            <a:ext cx="4343400" cy="43891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(Adjoint Algorithmic Diff.)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0016" y="1371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∇V = (∂V/∂x₁, …, ∂V/∂xₙ)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0016" y="1847088"/>
            <a:ext cx="128016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1847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53328" y="18470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4× one forward pricing — independent of 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0016" y="2322576"/>
            <a:ext cx="128016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232257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18 (IR Cap)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53328" y="232257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~4× cost as N = 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0016" y="2798064"/>
            <a:ext cx="128016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279806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(ISDA CDS)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53328" y="279806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~4× cost as N = 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0016" y="3273552"/>
            <a:ext cx="128016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3273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53328" y="32735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 machine precision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0016" y="3749040"/>
            <a:ext cx="128016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0016" y="3749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53328" y="3749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 N — designed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curve portfolios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QuantLib-Risks-Py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66928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595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User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tape = Tape()  ·  instrument.NPV()  ·  tape.computeAdjoints()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72768"/>
            <a:ext cx="73152" cy="9144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664208"/>
            <a:ext cx="5669280" cy="7498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00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 Bindings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984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↔ xad::AReal&lt;double&gt; typemaps  (types.i)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2414016"/>
            <a:ext cx="73152" cy="9144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505456"/>
            <a:ext cx="5669280" cy="7498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42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QuantLib C++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" y="28254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= xad::AReal&lt;double&gt;  via  QL_INCLUDE_FIRST=ql/qlrisks.hpp  ·  zero source changes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3255264"/>
            <a:ext cx="73152" cy="9144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346704"/>
            <a:ext cx="5669280" cy="749808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 (Tape-based AAD)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" y="3666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every +, ×, sin, …  ·  O(1) per backward sweep  ·  Replay across scenarios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206240"/>
            <a:ext cx="56692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4206240"/>
            <a:ext cx="2788920" cy="65836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51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  ·  Record → Replay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526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per sweep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90672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JIT  ·  Tape → x86-64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90672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AVX2: 4 evals in parallel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822960"/>
            <a:ext cx="2834640" cy="4041648"/>
          </a:xfrm>
          <a:prstGeom prst="rect">
            <a:avLst/>
          </a:prstGeom>
          <a:solidFill>
            <a:srgbClr val="112240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822960"/>
            <a:ext cx="64008" cy="40416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Dependency Graph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36208" y="1234440"/>
            <a:ext cx="2542032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06640" y="1234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JIT, AsmJit-based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1581912"/>
            <a:ext cx="2377440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1581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forge/api/c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71232" y="1581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API, binary compat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36208" y="1929384"/>
            <a:ext cx="2542032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1929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06640" y="19293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tape library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2276856"/>
            <a:ext cx="2377440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22768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xad-forge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71232" y="2276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 → Forge bridge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36208" y="2624328"/>
            <a:ext cx="2542032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QuantLib-Risks-Cpp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2624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Redefines QL_REAL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2971800"/>
            <a:ext cx="2377440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971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QuantLib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71232" y="2971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AReal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0" y="3319272"/>
            <a:ext cx="2377440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3319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QuantLib-Risks-Py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71232" y="3319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 Python ext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00800" y="3666744"/>
            <a:ext cx="2377440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3666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xad-autodiff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71232" y="36667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tape API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AAD Tape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46888" y="62179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input registration to gradient extraction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279806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14400"/>
            <a:ext cx="2798064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3268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932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Tape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138988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tape = Tape()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tape.activate()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" y="2039112"/>
            <a:ext cx="2578608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391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Thread-local recording target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63824" y="914400"/>
            <a:ext cx="279806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63824" y="914400"/>
            <a:ext cx="2798064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93268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22192" y="932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Inputs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73552" y="138988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tape.registerInput(spot)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tape.registerInput(vol)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73552" y="2039112"/>
            <a:ext cx="2578608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0391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independent variables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9806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2798064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93268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932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138988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npv = instrument.NPV()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ops recorded as {opcode,…}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2039112"/>
            <a:ext cx="2578608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20391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curve, price — tape grows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2834640"/>
            <a:ext cx="279806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2834640"/>
            <a:ext cx="2798064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285292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" y="28529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Output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0896" y="331012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derivative(npv) =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∂V/∂V = 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" y="3959352"/>
            <a:ext cx="2578608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593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backward from output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63824" y="2834640"/>
            <a:ext cx="279806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63824" y="2834640"/>
            <a:ext cx="2798064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5264" y="285292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22192" y="28529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Sweep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73552" y="331012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tape.computeAdjoints()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Chain rule in reverse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73552" y="3959352"/>
            <a:ext cx="2578608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28416" y="39593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one sweep all Greeks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26480" y="2834640"/>
            <a:ext cx="279806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2834640"/>
            <a:ext cx="2798064" cy="411480"/>
          </a:xfrm>
          <a:prstGeom prst="rect">
            <a:avLst/>
          </a:prstGeom>
          <a:solidFill>
            <a:srgbClr val="C67F10"/>
          </a:solidFill>
          <a:ln w="12700">
            <a:solidFill>
              <a:srgbClr val="C67F1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85292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84848" y="28529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Gradients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36208" y="331012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tape.derivative(spot)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vega  = tape.derivative(vol)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36208" y="3959352"/>
            <a:ext cx="2578608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39593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67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∂V/∂xᵢ for every input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01168" y="4718304"/>
            <a:ext cx="8741664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1830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Steps 4–6 (backward pass) are O(1) in N — one sweep yields ALL N sensitivities, regardless of input count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vs Re-record — Critical for Scenario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64008" cy="3291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416052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 (FAST — preferred)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 the SAME tape for multiple adjoint seeds.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re-execution of forward pass.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3931920" cy="1207008"/>
          </a:xfrm>
          <a:prstGeom prst="rect">
            <a:avLst/>
          </a:prstGeom>
          <a:solidFill>
            <a:srgbClr val="131F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751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scenario in scenarios: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203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tape.clearDerivatives()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derivative(npv) = 1.0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6609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tape.computeAdjoints()  # reuses tape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8895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greeks[scenario] = tape.derivative(x)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3931920" cy="34747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computation graph is STABLE across scenarios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868680"/>
            <a:ext cx="4343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868680"/>
            <a:ext cx="64008" cy="3291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868680"/>
            <a:ext cx="4343400" cy="411480"/>
          </a:xfrm>
          <a:prstGeom prst="rect">
            <a:avLst/>
          </a:prstGeom>
          <a:solidFill>
            <a:srgbClr val="C67F10"/>
          </a:solidFill>
          <a:ln w="12700">
            <a:solidFill>
              <a:srgbClr val="C67F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Re-record  (SLOW — only when needed)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0016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tape.newRecording() and re-runs the full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to rebuild the tape.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1920240"/>
            <a:ext cx="4114800" cy="1207008"/>
          </a:xfrm>
          <a:prstGeom prst="rect">
            <a:avLst/>
          </a:prstGeom>
          <a:solidFill>
            <a:srgbClr val="131F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75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scenario in scenarios: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2203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tape.newRecording()   # full rebuild!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432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re-execute all: curve build,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6609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solver iterations, pricing…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8895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tape.computeAdjoints()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00400"/>
            <a:ext cx="4114800" cy="347472"/>
          </a:xfrm>
          <a:prstGeom prst="rect">
            <a:avLst/>
          </a:prstGeom>
          <a:solidFill>
            <a:srgbClr val="C67F10"/>
          </a:solidFill>
          <a:ln w="12700">
            <a:solidFill>
              <a:srgbClr val="C67F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inputs change CONTROL FLOW (e.g. solver paths)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4251960"/>
            <a:ext cx="210312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2519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59152" y="4251960"/>
            <a:ext cx="118872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04872" y="42519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(ms)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84448" y="4251960"/>
            <a:ext cx="150876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0168" y="4251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Re-record (ms)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4251960"/>
            <a:ext cx="100584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2519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(ms)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53912" y="4251960"/>
            <a:ext cx="100584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42519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vs FD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581144"/>
            <a:ext cx="2103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5811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IRS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59152" y="458114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04872" y="45811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84448" y="4581144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0168" y="45811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130.5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20640" y="4581144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45811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726.4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53912" y="4581144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45811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212×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4910328"/>
            <a:ext cx="210312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103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(MidPoint)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359152" y="4910328"/>
            <a:ext cx="118872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04872" y="49103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584448" y="4910328"/>
            <a:ext cx="150876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30168" y="49103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20640" y="4910328"/>
            <a:ext cx="100584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49103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53912" y="4910328"/>
            <a:ext cx="100584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49103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63×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8600" y="5239512"/>
            <a:ext cx="2103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52395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(ISDA)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359152" y="523951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04872" y="52395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584448" y="5239512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30168" y="52395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1,580.5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120640" y="5239512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66360" y="52395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6,599.8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153912" y="5239512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99632" y="52395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254×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28600" y="5568696"/>
            <a:ext cx="210312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5568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OIS IRS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359152" y="5568696"/>
            <a:ext cx="118872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04872" y="556869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584448" y="5568696"/>
            <a:ext cx="150876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30168" y="55686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5,143.1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120640" y="5568696"/>
            <a:ext cx="100584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66360" y="556869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404.4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153912" y="5568696"/>
            <a:ext cx="100584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99632" y="556869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136×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205472" y="4251960"/>
            <a:ext cx="1709928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05472" y="425196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vs FD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JIT: From Tape to Native x86-64 Kernel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011680" cy="960120"/>
          </a:xfrm>
          <a:prstGeom prst="rect">
            <a:avLst/>
          </a:prstGeom>
          <a:solidFill>
            <a:srgbClr val="1A305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 Tape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list of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{opcode, operands, result}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170432"/>
            <a:ext cx="201168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87168" y="804672"/>
            <a:ext cx="2011680" cy="960120"/>
          </a:xfrm>
          <a:prstGeom prst="rect">
            <a:avLst/>
          </a:prstGeom>
          <a:solidFill>
            <a:srgbClr val="1A305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Graph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8608" y="11521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of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xad-forge bridge)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98848" y="1170432"/>
            <a:ext cx="201168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0016" y="804672"/>
            <a:ext cx="2011680" cy="960120"/>
          </a:xfrm>
          <a:prstGeom prst="rect">
            <a:avLst/>
          </a:prstGeom>
          <a:solidFill>
            <a:srgbClr val="1A305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Graph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91456" y="11521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· Constant folding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simplification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11696" y="1170432"/>
            <a:ext cx="201168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12864" y="804672"/>
            <a:ext cx="2011680" cy="960120"/>
          </a:xfrm>
          <a:prstGeom prst="rect">
            <a:avLst/>
          </a:prstGeom>
          <a:solidFill>
            <a:srgbClr val="00A88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4304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ForgedKernel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04304" y="11521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x86-64 machine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AsmJit code generation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76272" y="181051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xad-forge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0" y="181051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01968" y="181051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AsmJit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2359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Backends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4297680" cy="2176272"/>
          </a:xfrm>
          <a:prstGeom prst="rect">
            <a:avLst/>
          </a:prstGeom>
          <a:solidFill>
            <a:srgbClr val="1A305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ScalarBackend  (SSE2)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" y="3108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1 input set at a time.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 for tape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interpretation. Same API.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" y="3858768"/>
            <a:ext cx="2286000" cy="329184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8587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697480"/>
            <a:ext cx="4297680" cy="2176272"/>
          </a:xfrm>
          <a:prstGeom prst="rect">
            <a:avLst/>
          </a:prstGeom>
          <a:solidFill>
            <a:srgbClr val="00A88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AVXBackend  (AVX2 / 256-bit)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74336" y="3108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4 independent input 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 using SIMD instructions.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portfolio / scenario grids.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74336" y="3858768"/>
            <a:ext cx="2286000" cy="32918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38587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SIMD parallelism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8412480" cy="25603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eliminates interpreter overhead: no opcode dispatch, no pointer chasing, better cache locality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Limitations — Data-Dependent Branching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46888" y="62179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kernel is a straight-line computation — no conditionals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8686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64008" cy="10789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XAD records a LINEAR tape — C++ if-statements on AReal&lt;double&gt; are evaluated at record time.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ForgedKernel is straight-line code with NO conditional instructions. When re-evaluated with inputs that would take a different branch: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1481328"/>
            <a:ext cx="3840480" cy="34747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results — stale branch decisions → incorrect Greeks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81328"/>
            <a:ext cx="4480560" cy="34747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4813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(SIGSEGV) — stale indices / pointer offsets access invalid memory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" y="2029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Eligibility by Engine 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322576"/>
            <a:ext cx="3520440" cy="2423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" y="232257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/ Engine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76472" y="2322576"/>
            <a:ext cx="502920" cy="2423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232257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15968" y="2322576"/>
            <a:ext cx="4434840" cy="2423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232257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574036"/>
            <a:ext cx="35204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" y="257403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Call — AnalyticEuropeanEngine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76472" y="2574036"/>
            <a:ext cx="5029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1336" y="257403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15968" y="2574036"/>
            <a:ext cx="44348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257403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BSM formula, no branching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825496"/>
            <a:ext cx="35204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82549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Put — BAW / B-S / QD+ (approx)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76472" y="2825496"/>
            <a:ext cx="50292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1336" y="282549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15968" y="2825496"/>
            <a:ext cx="44348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282549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/ quasi-analytic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3076956"/>
            <a:ext cx="35204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" y="307695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Put — FdBlackScholesVanillaEngine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76472" y="3076956"/>
            <a:ext cx="5029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31336" y="307695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15968" y="3076956"/>
            <a:ext cx="44348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307695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boundary + early exercise checks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328416"/>
            <a:ext cx="35204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332841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Bond — TreeCallableFixedRateBondEngine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76472" y="3328416"/>
            <a:ext cx="50292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31336" y="332841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✅†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15968" y="3328416"/>
            <a:ext cx="44348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332841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40-step trinomial loop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579876"/>
            <a:ext cx="35204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" y="357987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Cap — BlackCapFloorEngine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76472" y="3579876"/>
            <a:ext cx="5029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31336" y="357987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15968" y="3579876"/>
            <a:ext cx="44348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70832" y="357987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Caplet Black formula evaluations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3831336"/>
            <a:ext cx="35204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464" y="383133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Swaption — JamshidianSwaptionEngine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776472" y="3831336"/>
            <a:ext cx="50292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1336" y="383133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15968" y="3831336"/>
            <a:ext cx="44348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70832" y="383133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Zero-bond option decomposition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8600" y="4082796"/>
            <a:ext cx="35204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408279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/ SOFR OIS IRS — DiscountingSwapEngine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76472" y="4082796"/>
            <a:ext cx="5029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31336" y="408279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315968" y="4082796"/>
            <a:ext cx="44348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70832" y="408279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solver on tape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28600" y="4334256"/>
            <a:ext cx="35204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3464" y="433425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— MidPointCdsEngine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776472" y="4334256"/>
            <a:ext cx="50292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31336" y="433425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15968" y="4334256"/>
            <a:ext cx="44348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70832" y="433425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tape, no AReal branches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28600" y="4585716"/>
            <a:ext cx="35204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3464" y="458571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— IsdaCdsEngine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776472" y="4585716"/>
            <a:ext cx="5029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31336" y="458571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15968" y="4585716"/>
            <a:ext cx="44348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70832" y="458571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if(fhphh&lt;1E-4) on Real in source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28600" y="4837176"/>
            <a:ext cx="35204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3464" y="483717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Option — MCEuropeanBasketEngine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776472" y="4837176"/>
            <a:ext cx="50292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31336" y="483717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315968" y="4837176"/>
            <a:ext cx="4434840" cy="2423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483717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path-dependent branching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28600" y="5088636"/>
            <a:ext cx="35204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" y="5088636"/>
            <a:ext cx="34655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Option — FdSimpleBSSwingEngine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776472" y="5088636"/>
            <a:ext cx="50292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31336" y="5088636"/>
            <a:ext cx="44805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315968" y="5088636"/>
            <a:ext cx="4434840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70832" y="5088636"/>
            <a:ext cx="437997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+ exercise logic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228600" y="509320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Callable bond works because the 40-step trinomial loop is regular enough that branch patterns are stable.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 — Single Instrument Pricing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46888" y="62179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reps, median. AAD backward = tape replay. Linux x86-64, Python 3.13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7160" y="749808"/>
            <a:ext cx="1965960" cy="3566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49808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30552" y="749808"/>
            <a:ext cx="2011680" cy="3566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749808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9664" y="749808"/>
            <a:ext cx="320040" cy="3566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5384" y="749808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17136" y="749808"/>
            <a:ext cx="731520" cy="3566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749808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(ms)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76088" y="749808"/>
            <a:ext cx="731520" cy="3566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749808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(ms)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749808"/>
            <a:ext cx="777240" cy="3566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749808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FD÷AAD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0568" y="749808"/>
            <a:ext cx="502920" cy="3566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74980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" y="1133856"/>
            <a:ext cx="19659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1133856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Call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30552" y="1133856"/>
            <a:ext cx="20116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1133856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AnalyticEuropeanEngine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69664" y="1133856"/>
            <a:ext cx="3200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15384" y="1133856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17136" y="1133856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1133856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76088" y="1133856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1133856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1133856"/>
            <a:ext cx="7772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1133856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17×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30568" y="1133856"/>
            <a:ext cx="5029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113385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7160" y="1517904"/>
            <a:ext cx="196596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1517904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Put (BAW)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30552" y="1517904"/>
            <a:ext cx="201168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1517904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BaroneAdesiWhaleyApprox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69664" y="1517904"/>
            <a:ext cx="32004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15384" y="1517904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17136" y="1517904"/>
            <a:ext cx="7315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2856" y="1517904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76088" y="1517904"/>
            <a:ext cx="7315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21808" y="1517904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1517904"/>
            <a:ext cx="77724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1517904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30568" y="1517904"/>
            <a:ext cx="5029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1517904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37160" y="1901952"/>
            <a:ext cx="19659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1901952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Put (B-S)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130552" y="1901952"/>
            <a:ext cx="20116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76272" y="1901952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BjerksundStenslandApprox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169664" y="1901952"/>
            <a:ext cx="3200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15384" y="1901952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17136" y="1901952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62856" y="1901952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0.128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276088" y="1901952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21808" y="1901952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035040" y="1901952"/>
            <a:ext cx="7772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0760" y="1901952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43×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830568" y="1901952"/>
            <a:ext cx="5029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76288" y="1901952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37160" y="2286000"/>
            <a:ext cx="196596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2286000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Put (PDE)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130552" y="2286000"/>
            <a:ext cx="201168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76272" y="2286000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FdBlackScholesVanilla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169664" y="2286000"/>
            <a:ext cx="32004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15384" y="2286000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517136" y="2286000"/>
            <a:ext cx="7315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62856" y="2286000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354.3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276088" y="2286000"/>
            <a:ext cx="7315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21808" y="2286000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168.9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035040" y="2286000"/>
            <a:ext cx="77724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80760" y="2286000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830568" y="2286000"/>
            <a:ext cx="5029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76288" y="2286000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37160" y="2670048"/>
            <a:ext cx="19659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" y="2670048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Put (QD+)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130552" y="2670048"/>
            <a:ext cx="20116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76272" y="2670048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QdPlusAmericanEngine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169664" y="2670048"/>
            <a:ext cx="3200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15384" y="2670048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517136" y="2670048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62856" y="2670048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0.183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276088" y="2670048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21808" y="2670048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0.029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035040" y="2670048"/>
            <a:ext cx="7772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080760" y="2670048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6.2×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830568" y="2670048"/>
            <a:ext cx="5029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76288" y="267004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137160" y="3054096"/>
            <a:ext cx="196596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82880" y="3054096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Swaption (HW)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130552" y="3054096"/>
            <a:ext cx="201168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76272" y="3054096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JamshidianSwaptionEngine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169664" y="3054096"/>
            <a:ext cx="32004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15384" y="3054096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4517136" y="3054096"/>
            <a:ext cx="7315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62856" y="3054096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0.136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5276088" y="3054096"/>
            <a:ext cx="7315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321808" y="3054096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6035040" y="3054096"/>
            <a:ext cx="77724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80760" y="3054096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18×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830568" y="3054096"/>
            <a:ext cx="5029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76288" y="305409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137160" y="3438144"/>
            <a:ext cx="19659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2880" y="3438144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Option (MC)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130552" y="3438144"/>
            <a:ext cx="20116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176272" y="3438144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MCEuropeanBasketEngine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169664" y="3438144"/>
            <a:ext cx="3200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15384" y="3438144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4517136" y="3438144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562856" y="3438144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254.5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276088" y="3438144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321808" y="3438144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6035040" y="3438144"/>
            <a:ext cx="7772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080760" y="3438144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36×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6830568" y="3438144"/>
            <a:ext cx="5029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876288" y="3438144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137160" y="3822192"/>
            <a:ext cx="196596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82880" y="3822192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Option (PDE)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2130552" y="3822192"/>
            <a:ext cx="201168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176272" y="3822192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FdSimpleBSSwingEngine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4169664" y="3822192"/>
            <a:ext cx="32004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15384" y="3822192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4517136" y="3822192"/>
            <a:ext cx="7315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562856" y="3822192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110.6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5276088" y="3822192"/>
            <a:ext cx="7315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321808" y="3822192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035040" y="3822192"/>
            <a:ext cx="77724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080760" y="3822192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6830568" y="3822192"/>
            <a:ext cx="502920" cy="35661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76288" y="3822192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137160" y="4206240"/>
            <a:ext cx="196596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82880" y="4206240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Bond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2130552" y="4206240"/>
            <a:ext cx="201168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176272" y="4206240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RiskyBondEngine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4169664" y="4206240"/>
            <a:ext cx="32004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215384" y="4206240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4517136" y="4206240"/>
            <a:ext cx="7315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562856" y="4206240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7.417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5276088" y="4206240"/>
            <a:ext cx="7315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321808" y="4206240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0.064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6035040" y="4206240"/>
            <a:ext cx="77724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080760" y="4206240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116×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6830568" y="4206240"/>
            <a:ext cx="5029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876288" y="4206240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137160" y="4590288"/>
            <a:ext cx="196596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82880" y="4590288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Cap (Black)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2130552" y="4590288"/>
            <a:ext cx="201168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176272" y="4590288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BlackCapFloorEngine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4169664" y="4590288"/>
            <a:ext cx="32004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215384" y="4590288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4517136" y="4590288"/>
            <a:ext cx="7315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562856" y="4590288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7.682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5276088" y="4590288"/>
            <a:ext cx="7315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321808" y="4590288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6035040" y="4590288"/>
            <a:ext cx="77724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080760" y="4590288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888×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6830568" y="4590288"/>
            <a:ext cx="5029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876288" y="459028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137160" y="4974336"/>
            <a:ext cx="196596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82880" y="4974336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IRS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2130552" y="4974336"/>
            <a:ext cx="201168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176272" y="4974336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DiscountingSwapEngine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4169664" y="4974336"/>
            <a:ext cx="32004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215384" y="4974336"/>
            <a:ext cx="274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4517136" y="4974336"/>
            <a:ext cx="7315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562856" y="4974336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6.571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5276088" y="4974336"/>
            <a:ext cx="7315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321808" y="4974336"/>
            <a:ext cx="685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0.034</a:t>
            </a:r>
            <a:endParaRPr lang="en-US" sz="950" dirty="0"/>
          </a:p>
        </p:txBody>
      </p:sp>
      <p:sp>
        <p:nvSpPr>
          <p:cNvPr id="170" name="Shape 168"/>
          <p:cNvSpPr/>
          <p:nvPr/>
        </p:nvSpPr>
        <p:spPr>
          <a:xfrm>
            <a:off x="6035040" y="4974336"/>
            <a:ext cx="77724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080760" y="4974336"/>
            <a:ext cx="731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191×</a:t>
            </a:r>
            <a:endParaRPr lang="en-US" sz="950" dirty="0"/>
          </a:p>
        </p:txBody>
      </p:sp>
      <p:sp>
        <p:nvSpPr>
          <p:cNvPr id="172" name="Shape 170"/>
          <p:cNvSpPr/>
          <p:nvPr/>
        </p:nvSpPr>
        <p:spPr>
          <a:xfrm>
            <a:off x="6830568" y="4974336"/>
            <a:ext cx="502920" cy="35661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876288" y="497433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74" name="Shape 172"/>
          <p:cNvSpPr/>
          <p:nvPr/>
        </p:nvSpPr>
        <p:spPr>
          <a:xfrm>
            <a:off x="7360920" y="749808"/>
            <a:ext cx="1719072" cy="42245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406640" y="8046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÷ AAD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7406640" y="1316736"/>
            <a:ext cx="73152" cy="22860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7516368" y="131673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17×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7406640" y="1641348"/>
            <a:ext cx="73152" cy="22860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516368" y="16413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7406640" y="1965960"/>
            <a:ext cx="73152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516368" y="1965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43×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7406640" y="2290572"/>
            <a:ext cx="73152" cy="22860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516368" y="22905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7406640" y="2615184"/>
            <a:ext cx="73152" cy="22860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516368" y="2615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6.2×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7406640" y="2939796"/>
            <a:ext cx="73152" cy="22860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516368" y="29397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18×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7406640" y="3264408"/>
            <a:ext cx="73152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516368" y="32644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36×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7406640" y="3589020"/>
            <a:ext cx="73152" cy="22860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516368" y="35890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7406640" y="3913632"/>
            <a:ext cx="185145" cy="228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628361" y="39136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116×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7406640" y="4238244"/>
            <a:ext cx="304851" cy="228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7748067" y="42382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191×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7406640" y="4562856"/>
            <a:ext cx="1417320" cy="228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8860536" y="45628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888×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Scales as O(1) vs FD's O(N) — The Core Advantage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877824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877824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55080" y="877824"/>
            <a:ext cx="64008" cy="1417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9509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engines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10528" y="12344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N=18 → 888×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0528" y="16002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Cap (Black)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242316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2423160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24963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replay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10528" y="27614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35,548×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510528" y="31912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9×9 OIS zero-rate Jacobian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55080" y="3767328"/>
            <a:ext cx="2560320" cy="11338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3767328"/>
            <a:ext cx="64008" cy="113385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10528" y="38404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non-monotone?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10528" y="41330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N=14 risky bond (116×) &lt; N=9 OIS (136×) because risky bond has heavier forward pass overhead.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4919472"/>
            <a:ext cx="86868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19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AAD cost ≤ 4× forward pricing, independent of N. FD cost = (N+1) × forward pricing — linear in 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Benchmarks — Full Sensitivity Matrices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46888" y="62179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scenarios · OIS curve (9×9) and CDS curve (4×4)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Jacobians (9×9 OIS curve)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152144"/>
            <a:ext cx="201168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67712" y="1152144"/>
            <a:ext cx="141732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11521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ZeroCurve (ms)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12464" y="1152144"/>
            <a:ext cx="566928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1152144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06824" y="1152144"/>
            <a:ext cx="150876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1521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Bootstrap (ms)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43016" y="1152144"/>
            <a:ext cx="566928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1152144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490472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49047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(baseline)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67712" y="1490472"/>
            <a:ext cx="1417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13432" y="1490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4,647.8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12464" y="1490472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8184" y="1490472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06824" y="1490472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2544" y="1490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437.3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43016" y="1490472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88736" y="1490472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828800"/>
            <a:ext cx="201168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8288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re-record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67712" y="1828800"/>
            <a:ext cx="141732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3432" y="1828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468.8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12464" y="1828800"/>
            <a:ext cx="566928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58184" y="1828800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06824" y="1828800"/>
            <a:ext cx="150876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1828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5,344.9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43016" y="1828800"/>
            <a:ext cx="566928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88736" y="1828800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0.1× ⚠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167128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1671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Chain-rule Jacobian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67712" y="2167128"/>
            <a:ext cx="1417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3432" y="21671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12464" y="2167128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58184" y="2167128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84×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06824" y="2167128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52544" y="2167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43016" y="2167128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88736" y="2167128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505456"/>
            <a:ext cx="2011680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5054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replay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67712" y="2505456"/>
            <a:ext cx="1417320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13432" y="2505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712464" y="2505456"/>
            <a:ext cx="566928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58184" y="2505456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35,548×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306824" y="2505456"/>
            <a:ext cx="1508760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52544" y="25054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43016" y="2505456"/>
            <a:ext cx="566928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88736" y="2505456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168×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2860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Jacobians (4×4 CDS curve)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28600" y="3346704"/>
            <a:ext cx="201168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34670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267712" y="3346704"/>
            <a:ext cx="141732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13432" y="33467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HazardRate (ms)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712464" y="3346704"/>
            <a:ext cx="566928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58184" y="3346704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306824" y="3346704"/>
            <a:ext cx="150876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52544" y="33467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Bootstrap (ms)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843016" y="3346704"/>
            <a:ext cx="566928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88736" y="3346704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28600" y="3685032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36850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(baseline)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267712" y="3685032"/>
            <a:ext cx="1417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13432" y="3685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712464" y="3685032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58184" y="3685032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306824" y="3685032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52544" y="36850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110.7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843016" y="3685032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88736" y="3685032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28600" y="4023360"/>
            <a:ext cx="201168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40233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re-record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267712" y="4023360"/>
            <a:ext cx="141732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13432" y="4023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712464" y="4023360"/>
            <a:ext cx="566928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58184" y="4023360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306824" y="4023360"/>
            <a:ext cx="1508760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52544" y="4023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843016" y="4023360"/>
            <a:ext cx="566928" cy="31089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88736" y="4023360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28600" y="4361688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43616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Chain-rule Jacobian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267712" y="4361688"/>
            <a:ext cx="1417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313432" y="43616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712464" y="4361688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58184" y="4361688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306824" y="4361688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52544" y="43616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843016" y="4361688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888736" y="4361688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89×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28600" y="4700016"/>
            <a:ext cx="2011680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4320" y="47000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replay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267712" y="4700016"/>
            <a:ext cx="1417320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313432" y="47000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3712464" y="4700016"/>
            <a:ext cx="566928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758184" y="4700016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85×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306824" y="4700016"/>
            <a:ext cx="1508760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52544" y="47000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843016" y="4700016"/>
            <a:ext cx="566928" cy="310896"/>
          </a:xfrm>
          <a:prstGeom prst="rect">
            <a:avLst/>
          </a:prstGeom>
          <a:solidFill>
            <a:srgbClr val="E8F8F3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888736" y="4700016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53×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492240" y="822960"/>
            <a:ext cx="2423160" cy="290779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6492240" y="822960"/>
            <a:ext cx="64008" cy="29077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656832" y="896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replay is so fast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6565392" y="127101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Zero-rate curve built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directly — no solver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tiny tape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6565392" y="186537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Replay cost: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~microseconds/sweep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6565392" y="245973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FD rebuilds curve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N+1 times ×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scenarios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6565392" y="3017520"/>
            <a:ext cx="2212848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65392" y="3054096"/>
            <a:ext cx="2212848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35,548× faster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FD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6492240" y="3858768"/>
            <a:ext cx="2423160" cy="117043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6492240" y="3858768"/>
            <a:ext cx="6400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656832" y="3931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Chain-rule wins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solver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6656832" y="43525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J = J_curve × J_pricing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each part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→ 89× speedup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Speedup on the AAD Backward Pass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benefits scale with the REGULARITY and SIZE of the backward sweep — not with N (number of inputs).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228600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155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1115568"/>
            <a:ext cx="109728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5184" y="11155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Non-JIT (ms)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115568"/>
            <a:ext cx="91440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1155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JIT (ms)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9432" y="1115568"/>
            <a:ext cx="91440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1155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41264" y="1115568"/>
            <a:ext cx="3520440" cy="411480"/>
          </a:xfrm>
          <a:prstGeom prst="rect">
            <a:avLst/>
          </a:prstGeom>
          <a:solidFill>
            <a:srgbClr val="00A882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14416" y="1115568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character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22860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5727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Call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42032" y="1572768"/>
            <a:ext cx="109728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15727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0" y="15727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5727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99432" y="15727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15727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1.08×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41264" y="1572768"/>
            <a:ext cx="352044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1572768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smooth formula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" y="2029968"/>
            <a:ext cx="22860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20299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Put (BAW)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42032" y="2029968"/>
            <a:ext cx="109728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5184" y="20299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0.0025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0" y="20299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0299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0.0022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99432" y="20299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584" y="20299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1.13×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41264" y="2029968"/>
            <a:ext cx="352044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2029968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analytic approx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28600" y="2487168"/>
            <a:ext cx="22860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24871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Put (B-S)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542032" y="2487168"/>
            <a:ext cx="109728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5184" y="24871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0.0030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657600" y="24871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0752" y="24871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0.0026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99432" y="24871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24871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1.16×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541264" y="2487168"/>
            <a:ext cx="352044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14416" y="2487168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analytic approx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28600" y="2944368"/>
            <a:ext cx="228600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9443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Bond (tree)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542032" y="2944368"/>
            <a:ext cx="109728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15184" y="29443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0.5656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657600" y="2944368"/>
            <a:ext cx="91440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0752" y="29443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0.0839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99432" y="2944368"/>
            <a:ext cx="91440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2584" y="29443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6.74×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541264" y="2944368"/>
            <a:ext cx="35204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14416" y="2944368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40-step trinomial loop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28600" y="3401568"/>
            <a:ext cx="22860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34015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Cap (Black)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2542032" y="3401568"/>
            <a:ext cx="109728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15184" y="34015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0.0086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3657600" y="34015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30752" y="34015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0.0081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4599432" y="34015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72584" y="34015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1.06×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541264" y="3401568"/>
            <a:ext cx="352044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14416" y="3401568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caplet sum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28600" y="3858768"/>
            <a:ext cx="22860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" y="38587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IRS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2542032" y="3858768"/>
            <a:ext cx="109728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15184" y="38587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0.0343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3657600" y="38587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30752" y="38587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0.0309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4599432" y="3858768"/>
            <a:ext cx="91440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72584" y="3858768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1.11×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5541264" y="3858768"/>
            <a:ext cx="352044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14416" y="3858768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solver tape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228600" y="3950208"/>
            <a:ext cx="42976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" y="39867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Bond 6.74× — Why?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347472" y="41696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40-step backward induction loop is tight and regular → AsmJit generates a tight native loop with no interpreter overhead.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754880" y="3950208"/>
            <a:ext cx="41605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82896" y="39867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analytic formulas 1.0–1.2× — Why?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882896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is already tiny. Interpreter overhead is negligible relative to the actual computation cost.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228600" y="4526280"/>
            <a:ext cx="8686800" cy="45720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helps most when: large tape + tight regular loops (tree induction, bootstrap iteration) + JIT-eligible engine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— When to Use Which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3774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80467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804672"/>
            <a:ext cx="150876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2616" y="80467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23944" y="804672"/>
            <a:ext cx="24688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8808" y="80467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20256" y="804672"/>
            <a:ext cx="128016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80467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161288"/>
            <a:ext cx="237744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161288"/>
            <a:ext cx="64008" cy="448056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161288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inputs (N ≤ 3), no solver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87752" y="1161288"/>
            <a:ext cx="150876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2616" y="1161288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Differences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23944" y="1161288"/>
            <a:ext cx="246888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8808" y="1161288"/>
            <a:ext cx="2414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— no tape overhead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0256" y="1161288"/>
            <a:ext cx="128016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161288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1636776"/>
            <a:ext cx="2377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1636776"/>
            <a:ext cx="64008" cy="4480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1636776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inputs, analytic engine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87752" y="1636776"/>
            <a:ext cx="15087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42616" y="1636776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replay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23944" y="1636776"/>
            <a:ext cx="2468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8808" y="1636776"/>
            <a:ext cx="2414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solver tape complexity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0256" y="1636776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636776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10–900×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2112264"/>
            <a:ext cx="237744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2112264"/>
            <a:ext cx="64008" cy="4480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2112264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sweep, stable graph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87752" y="2112264"/>
            <a:ext cx="150876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2616" y="2112264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replay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23944" y="2112264"/>
            <a:ext cx="246888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78808" y="2112264"/>
            <a:ext cx="2414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tape across 100s of scenarios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0256" y="2112264"/>
            <a:ext cx="128016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2112264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50–250×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" y="2587752"/>
            <a:ext cx="2377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2587752"/>
            <a:ext cx="64008" cy="448056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2587752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N×N Jacobian, direct curve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87752" y="2587752"/>
            <a:ext cx="15087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42616" y="2587752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replay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3944" y="2587752"/>
            <a:ext cx="2468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78808" y="2587752"/>
            <a:ext cx="2414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iterative solver → tiny tape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20256" y="2587752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2587752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85–35,548×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2880" y="3063240"/>
            <a:ext cx="237744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880" y="3063240"/>
            <a:ext cx="64008" cy="4480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3063240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Jacobian, through solver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587752" y="3063240"/>
            <a:ext cx="150876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42616" y="3063240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Chain-rule factorisation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23944" y="3063240"/>
            <a:ext cx="246888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78808" y="3063240"/>
            <a:ext cx="2414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J = J_curve × J_pricing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620256" y="3063240"/>
            <a:ext cx="128016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3063240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4–89×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82880" y="3538728"/>
            <a:ext cx="2377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2880" y="3538728"/>
            <a:ext cx="64008" cy="448056"/>
          </a:xfrm>
          <a:prstGeom prst="rect">
            <a:avLst/>
          </a:prstGeom>
          <a:solidFill>
            <a:srgbClr val="C67F10"/>
          </a:solidFill>
          <a:ln w="12700">
            <a:solidFill>
              <a:srgbClr val="C67F1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" y="3538728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/ MC engines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87752" y="3538728"/>
            <a:ext cx="15087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42616" y="3538728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re-record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123944" y="3538728"/>
            <a:ext cx="2468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78808" y="3538728"/>
            <a:ext cx="2414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Data-dependent branches; JIT ineligible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620256" y="3538728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75120" y="3538728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7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2–36×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82880" y="4014216"/>
            <a:ext cx="237744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2880" y="4014216"/>
            <a:ext cx="64008" cy="448056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4014216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JIT-eligible + regular loop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587752" y="4014216"/>
            <a:ext cx="150876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42616" y="4014216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JIT-compiled AAD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123944" y="4014216"/>
            <a:ext cx="246888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78808" y="4014216"/>
            <a:ext cx="2414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AsmJit kernel eliminates interpreter overhead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620256" y="4014216"/>
            <a:ext cx="1280160" cy="44805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75120" y="4014216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+1–7× over AAD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82880" y="4489704"/>
            <a:ext cx="2377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2880" y="4489704"/>
            <a:ext cx="64008" cy="448056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92608" y="4489704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Re-record through iterative solver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587752" y="4489704"/>
            <a:ext cx="15087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42616" y="4489704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re-record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123944" y="4489704"/>
            <a:ext cx="2468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78808" y="4489704"/>
            <a:ext cx="2414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rebuild &gt; FD bumping (0.1–0.5× FD)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620256" y="4489704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75120" y="4489704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slower than FD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82880" y="804672"/>
            <a:ext cx="64008" cy="41330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816352" cy="1792224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" cy="17922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914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= O(1) in 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280160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backward sweep gives ALL N Greeks. Cost ≤ 4× forward pricing regardless of input count.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822960"/>
            <a:ext cx="2816352" cy="1792224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822960"/>
            <a:ext cx="502920" cy="1792224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82296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85616" y="914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 + QL_REAL Swap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85616" y="1280160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double with xad::AReal&lt;double&gt; via QL_INCLUDE_FIRST. Zero QuantLib source changes.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822960"/>
            <a:ext cx="2816352" cy="1792224"/>
          </a:xfrm>
          <a:prstGeom prst="rect">
            <a:avLst/>
          </a:prstGeom>
          <a:solidFill>
            <a:srgbClr val="1122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822960"/>
            <a:ext cx="502920" cy="17922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82296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9984" y="914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&gt; Re-record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9984" y="1280160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tape across scenarios. Re-record rebuilds through solvers — can be slower than FD.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816352" cy="1792224"/>
          </a:xfrm>
          <a:prstGeom prst="rect">
            <a:avLst/>
          </a:prstGeom>
          <a:solidFill>
            <a:srgbClr val="112240"/>
          </a:solidFill>
          <a:ln w="12700">
            <a:solidFill>
              <a:srgbClr val="C67F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788920"/>
            <a:ext cx="502920" cy="1792224"/>
          </a:xfrm>
          <a:prstGeom prst="rect">
            <a:avLst/>
          </a:prstGeom>
          <a:solidFill>
            <a:srgbClr val="C67F10"/>
          </a:solidFill>
          <a:ln w="12700">
            <a:solidFill>
              <a:srgbClr val="C67F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8892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1248" y="2880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JIT Kernel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246120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Tape→Graph→x86-64 native code. AVX2 backend: 4 parallel evals. 6.7× on callable bond tree.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2788920"/>
            <a:ext cx="2816352" cy="1792224"/>
          </a:xfrm>
          <a:prstGeom prst="rect">
            <a:avLst/>
          </a:prstGeom>
          <a:solidFill>
            <a:srgbClr val="11224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2788920"/>
            <a:ext cx="502920" cy="1792224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278892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85616" y="2880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Branching Limit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85616" y="3246120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kernels only. PDE/MC/ISDA engines with data-dependent if-on-Real are ineligible.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2788920"/>
            <a:ext cx="2816352" cy="1792224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2788920"/>
            <a:ext cx="502920" cy="17922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78892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9984" y="2880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35,548× Speedup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9984" y="3246120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 zero-rate Jacobian replay vs FD. 888× for IR Cap, 191× for IRS, 254× for ISDA CDS batch.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 &amp; JIT in QuantLib</dc:title>
  <dc:subject>PptxGenJS Presentation</dc:subject>
  <dc:creator>PptxGenJS</dc:creator>
  <cp:lastModifiedBy>PptxGenJS</cp:lastModifiedBy>
  <cp:revision>1</cp:revision>
  <dcterms:created xsi:type="dcterms:W3CDTF">2026-02-28T18:47:57Z</dcterms:created>
  <dcterms:modified xsi:type="dcterms:W3CDTF">2026-02-28T18:47:57Z</dcterms:modified>
</cp:coreProperties>
</file>