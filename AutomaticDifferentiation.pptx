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239572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Mode · Reverse Mode · Jacobians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944368"/>
            <a:ext cx="1325880" cy="347472"/>
          </a:xfrm>
          <a:prstGeom prst="rect">
            <a:avLst/>
          </a:prstGeom>
          <a:solidFill>
            <a:srgbClr val="007E8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443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Numbers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2944368"/>
            <a:ext cx="1325880" cy="347472"/>
          </a:xfrm>
          <a:prstGeom prst="rect">
            <a:avLst/>
          </a:prstGeom>
          <a:solidFill>
            <a:srgbClr val="007E8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9443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Wengert Tape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944368"/>
            <a:ext cx="1325880" cy="347472"/>
          </a:xfrm>
          <a:prstGeom prst="rect">
            <a:avLst/>
          </a:prstGeom>
          <a:solidFill>
            <a:srgbClr val="007E8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9443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JVP / VJP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944368"/>
            <a:ext cx="1325880" cy="347472"/>
          </a:xfrm>
          <a:prstGeom prst="rect">
            <a:avLst/>
          </a:prstGeom>
          <a:solidFill>
            <a:srgbClr val="007E8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9443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f(x+ε) = f(x) + f′(x)ε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ε² = 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ȳ = J⊤ · ū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∇L in 1 pass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Compute Derivatives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640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automatic differentiation wins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57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2743200" cy="566928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5528" y="1005840"/>
            <a:ext cx="2176272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Diff.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" y="166420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9568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Exact algebraic result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" y="224942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Human-readable output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" y="285292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" y="31455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Expression swell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" y="343814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Exponentially large terms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" y="373075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Hard to automate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72968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005840"/>
            <a:ext cx="274320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2968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39896" y="1005840"/>
            <a:ext cx="2176272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Diff.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82696" y="166420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82696" y="19568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Easy to implement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82696" y="224942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Works on any black-box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82696" y="285292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82696" y="31455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Floating-point error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82696" y="343814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Truncation error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82696" y="373075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Slow (O(n) extra evals)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17336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17336" y="1005840"/>
            <a:ext cx="2743200" cy="5669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684264" y="1005840"/>
            <a:ext cx="2176272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Diff.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27064" y="166420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27064" y="19568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Exact (machine precision)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27064" y="224942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Efficient — 1 pass for gradient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27064" y="25420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Handles arbitrary code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27064" y="285292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27064" y="314553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Memory overhead (reverse)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27064" y="343814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Tape setup cost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Numbers — The Algebraic Foundation of Forward Mode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64008" cy="1463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 number has the form: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a + b·ε    where  ε² = 0, ε ≠ 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primal (value)   ·   b = tangent (derivative)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560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with number systems: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852928"/>
            <a:ext cx="658368" cy="347472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85292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852928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852928"/>
            <a:ext cx="16459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on 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291840"/>
            <a:ext cx="658368" cy="347472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29184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291840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bi, i²=−1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291840"/>
            <a:ext cx="16459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+ rotation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730752"/>
            <a:ext cx="658368" cy="3474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73075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730752"/>
            <a:ext cx="1737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bε, ε²=0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730752"/>
            <a:ext cx="16459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+ tangent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96012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960120"/>
            <a:ext cx="64008" cy="3931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024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Insight: Taylor Expansion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73168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f(a+bε) = f(a) + b·f′(a)·ε + b²·f″(a)·ε²/2! + ...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73168" y="1755648"/>
            <a:ext cx="393192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7556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ε² = 0, ALL higher terms vanish!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73168" y="2240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f(a + bε) = f(a) + b·f′(a)·ε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773168" y="2743200"/>
            <a:ext cx="393192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part →  f(a)  (function value)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part →  b·f′(a)  (exact derivative)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73168" y="3520440"/>
            <a:ext cx="39319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520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approximation · No limits · Exact to machine precision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Number Arithmetic — Rules Table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640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encodes a calculus identity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16459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01952" y="91440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53328" y="914400"/>
            <a:ext cx="21031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914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rule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298448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2984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01952" y="1298448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12984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(a+bε)+(c+dε) = (a+c)+(b+d)ε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53328" y="1298448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2984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rule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1682496"/>
            <a:ext cx="164592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6824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01952" y="1682496"/>
            <a:ext cx="411480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168249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(a+bε)−(c+dε) = (a−c)+(b−d)ε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53328" y="1682496"/>
            <a:ext cx="210312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16824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rule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2066544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0665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901952" y="206654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93392" y="20665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(a+bε)(c+dε) = ac+(ad+bc)ε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53328" y="2066544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20665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rule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" y="2450592"/>
            <a:ext cx="164592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4505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901952" y="2450592"/>
            <a:ext cx="411480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93392" y="24505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(a+bε)/(c+dε) = a/c + (bc−ad)/c²·ε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53328" y="2450592"/>
            <a:ext cx="210312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68" y="24505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Quotient rule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283464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834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sin(a+bε)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901952" y="283464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93392" y="2834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sin(a) + b·cos(a)·ε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53328" y="283464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2834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28600" y="3218688"/>
            <a:ext cx="164592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2186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cos(a+bε)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901952" y="3218688"/>
            <a:ext cx="411480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93392" y="32186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cos(a) − b·sin(a)·ε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53328" y="3218688"/>
            <a:ext cx="210312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44768" y="32186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28600" y="360273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3602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exp(a+bε)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901952" y="3602736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93392" y="36027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eᵃ + b·eᵃ·ε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053328" y="3602736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44768" y="36027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28600" y="3986784"/>
            <a:ext cx="164592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9867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log(a+bε)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901952" y="3986784"/>
            <a:ext cx="411480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93392" y="39867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ln(a) + b/a·ε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053328" y="3986784"/>
            <a:ext cx="210312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44768" y="39867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28600" y="4370832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3708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sqrt(a+bε)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901952" y="437083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93392" y="43708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√a + b/(2√a)·ε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053328" y="4370832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44768" y="4370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228600" y="914400"/>
            <a:ext cx="73152" cy="38404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Mode — Worked Examples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640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dual.hpp and forward_mode.cpp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2788920" cy="43891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x² at x = 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444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7190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Set x = 3 + 1·ε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" y="2103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(3+ε)² = 9 + 6ε + ε² = 9 + 6ε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" y="2596896"/>
            <a:ext cx="2560320" cy="4754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5968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f(3) = 9  ·  f′(3) = 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" y="31455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f′(x)=2x → 2·3=6 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91440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914400"/>
            <a:ext cx="2788920" cy="43891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9144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x³+2x at x =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444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17190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Set x = 2 + 1·ε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2103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(2+ε)³ = 8+12ε  →  +2(2+ε) = 4+2ε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0128" y="24871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Total: 12 + 14ε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10128" y="2980944"/>
            <a:ext cx="2560320" cy="4754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9809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f(2) = 12  ·  f′(2) = 14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0128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f′(x)=3x²+2 → 14 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91440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914400"/>
            <a:ext cx="2788920" cy="43891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9144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= sin(x²) at x =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81928" y="1444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81928" y="17190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Step 1: g = x² = 9+6ε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81928" y="2103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Step 2: sin(9+6ε) = sin(9)+6cos(9)·ε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81928" y="2596896"/>
            <a:ext cx="2560320" cy="4754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25968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f(3) = sin(9)  ·  f′(3) = 6cos(9)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81928" y="31455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 auto-handled! 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Implementation — Forward Mode (dual.hpp)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640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overloading carries derivatives automatically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Dual {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069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real;   // f(x) — 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dual;   // f′(x) — derivative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581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Product rule: (ab)′ = ab′ + a′b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176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 operator*(Dual a, Dual b) {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4323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a.real * b.real,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6883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a.real * b.dual + a.dual * b.real };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29443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291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 sin(Dual x) {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547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sin(x.real), x.dual * cos(x.real) };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8039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6280" y="749808"/>
            <a:ext cx="36576" cy="4114800"/>
          </a:xfrm>
          <a:prstGeom prst="rect">
            <a:avLst/>
          </a:prstGeom>
          <a:solidFill>
            <a:srgbClr val="007E8A"/>
          </a:solidFill>
          <a:ln w="12700">
            <a:solidFill>
              <a:srgbClr val="007E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777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Usage: f(x) = sin(x²) at x =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069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 x(3.0, 1.0);   // value=3, deriv=1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325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 r = sin(x * x);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691640"/>
            <a:ext cx="4114800" cy="658368"/>
          </a:xfrm>
          <a:prstGeom prst="rect">
            <a:avLst/>
          </a:prstGeom>
          <a:solidFill>
            <a:srgbClr val="0D2136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746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r.real == sin(9)     // = -0.4121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2002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r.dual == 6*cos(9)  // = 5.4666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2514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Partial derivatives: f(x₁,x₂)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2770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 x1(2.0, 1.0), x2(3.0, 0.0); // ∂/∂x₁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0" y="3026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 x1(2.0, 0.0), x2(3.0, 1.0); // ∂/∂x₂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4114800" cy="658368"/>
          </a:xfrm>
          <a:prstGeom prst="rect">
            <a:avLst/>
          </a:prstGeom>
          <a:solidFill>
            <a:srgbClr val="007E8A"/>
          </a:solidFill>
          <a:ln w="12700">
            <a:solidFill>
              <a:srgbClr val="007E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just overload operators.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63440" y="37307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handles the chain rule!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Mode — Computation Graph (Wengert Tape)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640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f(x₁, x₂) = x₁·x₂ + sin(x₁) at x₁=2, x₂=3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22960" cy="40233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x₁=2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724912"/>
            <a:ext cx="822960" cy="40233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7249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x₂=3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1536192"/>
            <a:ext cx="822960" cy="4023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5361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v₃=6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3090672"/>
            <a:ext cx="822960" cy="40233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30906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v₄≈0.91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2267712"/>
            <a:ext cx="822960" cy="40233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y≈6.91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34540" y="1536192"/>
            <a:ext cx="502920" cy="402336"/>
          </a:xfrm>
          <a:prstGeom prst="rect">
            <a:avLst/>
          </a:prstGeom>
          <a:solidFill>
            <a:srgbClr val="16253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34540" y="153619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34540" y="3090672"/>
            <a:ext cx="502920" cy="402336"/>
          </a:xfrm>
          <a:prstGeom prst="rect">
            <a:avLst/>
          </a:prstGeom>
          <a:solidFill>
            <a:srgbClr val="16253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4540" y="309067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29100" y="2267712"/>
            <a:ext cx="502920" cy="402336"/>
          </a:xfrm>
          <a:prstGeom prst="rect">
            <a:avLst/>
          </a:prstGeom>
          <a:solidFill>
            <a:srgbClr val="16253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29100" y="22677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34440" y="1280160"/>
            <a:ext cx="804672" cy="457200"/>
          </a:xfrm>
          <a:prstGeom prst="line">
            <a:avLst/>
          </a:prstGeom>
          <a:noFill/>
          <a:ln w="12700">
            <a:solidFill>
              <a:srgbClr val="B0C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4440" y="2926080"/>
            <a:ext cx="804672" cy="-1188720"/>
          </a:xfrm>
          <a:prstGeom prst="line">
            <a:avLst/>
          </a:prstGeom>
          <a:noFill/>
          <a:ln w="12700">
            <a:solidFill>
              <a:srgbClr val="B0C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34440" y="1280160"/>
            <a:ext cx="804672" cy="2011680"/>
          </a:xfrm>
          <a:prstGeom prst="line">
            <a:avLst/>
          </a:prstGeom>
          <a:noFill/>
          <a:ln w="12700">
            <a:solidFill>
              <a:srgbClr val="B0C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42032" y="1737360"/>
            <a:ext cx="1938528" cy="731520"/>
          </a:xfrm>
          <a:prstGeom prst="line">
            <a:avLst/>
          </a:prstGeom>
          <a:noFill/>
          <a:ln w="12700">
            <a:solidFill>
              <a:srgbClr val="B0C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42032" y="3291840"/>
            <a:ext cx="1938528" cy="-822960"/>
          </a:xfrm>
          <a:prstGeom prst="line">
            <a:avLst/>
          </a:prstGeom>
          <a:noFill/>
          <a:ln w="12700">
            <a:solidFill>
              <a:srgbClr val="B0C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27448" y="2468880"/>
            <a:ext cx="576072" cy="0"/>
          </a:xfrm>
          <a:prstGeom prst="line">
            <a:avLst/>
          </a:prstGeom>
          <a:noFill/>
          <a:ln w="12700">
            <a:solidFill>
              <a:srgbClr val="B0C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914400"/>
            <a:ext cx="3154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60720" y="914400"/>
            <a:ext cx="64008" cy="4023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— Values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0" y="1298448"/>
            <a:ext cx="594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12984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1298448"/>
            <a:ext cx="11430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12984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0" y="1298448"/>
            <a:ext cx="10972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12984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0" y="1664208"/>
            <a:ext cx="59436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166420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v₁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83680" y="1664208"/>
            <a:ext cx="114300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16642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72400" y="1664208"/>
            <a:ext cx="109728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8120" y="16642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943600" y="2066544"/>
            <a:ext cx="594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206654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583680" y="2066544"/>
            <a:ext cx="1143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206654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x₂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772400" y="2066544"/>
            <a:ext cx="1097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18120" y="206654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943600" y="2468880"/>
            <a:ext cx="59436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9320" y="246888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v₃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583680" y="2468880"/>
            <a:ext cx="114300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246888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v₁·v₂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772400" y="2468880"/>
            <a:ext cx="109728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18120" y="246888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943600" y="2871216"/>
            <a:ext cx="594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89320" y="287121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v₄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583680" y="2871216"/>
            <a:ext cx="1143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287121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sin(v₁)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772400" y="2871216"/>
            <a:ext cx="10972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18120" y="287121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0.909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943600" y="3273552"/>
            <a:ext cx="59436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89320" y="327355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583680" y="3273552"/>
            <a:ext cx="114300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29400" y="32735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v₃+v₄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772400" y="3273552"/>
            <a:ext cx="1097280" cy="402336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18120" y="327355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6.909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943600" y="3703320"/>
            <a:ext cx="2926080" cy="320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recorded on tape →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 — Propagating Adjoints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640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 v̄ᵢ = ∂y/∂vᵢ  ·  accumulate with +=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06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41248"/>
            <a:ext cx="64008" cy="4206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backward pass for f = x₁·x₂ + sin(x₁)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1298448"/>
            <a:ext cx="4005072" cy="594360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316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Seed output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v̄₅ =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13533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(∂y/∂y = 1)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1947672"/>
            <a:ext cx="4005072" cy="594360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965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v₅ = v₃+v₄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2203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v̄₃ += v̄₅·1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v̄₄ += v̄₅·1 =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20025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splits equally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" y="2596896"/>
            <a:ext cx="4005072" cy="594360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v₄ = sin(v₁)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2852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v̄₁ += v̄₄·cos(v₁)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1·cos(2) ≈ −0.416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rule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" y="3246120"/>
            <a:ext cx="4005072" cy="594360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64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v₃ = v₁·v₂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" y="3502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v̄₁ += v̄₃·v₂ = 1·3 =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v̄₂ += v̄₃·v₁ = 1·2 =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17520" y="330098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rule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2608" y="3895344"/>
            <a:ext cx="4005072" cy="594360"/>
          </a:xfrm>
          <a:prstGeom prst="rect">
            <a:avLst/>
          </a:prstGeom>
          <a:solidFill>
            <a:srgbClr val="00C2C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Final gradients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4048" y="41513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∂f/∂x₁ = 3+cos(2) ≈ 2.584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∂f/∂x₂ =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7520" y="3950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from 1 pass! ✓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841248"/>
            <a:ext cx="42976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841248"/>
            <a:ext cx="64008" cy="42062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Derivative Rules (backward)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91456" y="1243584"/>
            <a:ext cx="685800" cy="338328"/>
          </a:xfrm>
          <a:prstGeom prst="rect">
            <a:avLst/>
          </a:prstGeom>
          <a:solidFill>
            <a:srgbClr val="0D1B2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243584"/>
            <a:ext cx="630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22976" y="1243584"/>
            <a:ext cx="3063240" cy="338328"/>
          </a:xfrm>
          <a:prstGeom prst="rect">
            <a:avLst/>
          </a:prstGeom>
          <a:solidFill>
            <a:srgbClr val="0D1B2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1243584"/>
            <a:ext cx="3008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rule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91456" y="1591056"/>
            <a:ext cx="6858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591056"/>
            <a:ext cx="630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22976" y="1591056"/>
            <a:ext cx="3063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1591056"/>
            <a:ext cx="3008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ā += grad,  b̄ += grad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91456" y="1938528"/>
            <a:ext cx="685800" cy="33832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1938528"/>
            <a:ext cx="630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− b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22976" y="1938528"/>
            <a:ext cx="3063240" cy="33832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1938528"/>
            <a:ext cx="3008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ā += grad,  b̄ += −grad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91456" y="2286000"/>
            <a:ext cx="6858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2286000"/>
            <a:ext cx="630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× b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22976" y="2286000"/>
            <a:ext cx="3063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2286000"/>
            <a:ext cx="3008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ā += grad·b,  b̄ += grad·a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91456" y="2633472"/>
            <a:ext cx="685800" cy="33832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2633472"/>
            <a:ext cx="630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/ b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522976" y="2633472"/>
            <a:ext cx="3063240" cy="33832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2633472"/>
            <a:ext cx="3008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ā += grad/b,  b̄ −= grad·a/b²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91456" y="2980944"/>
            <a:ext cx="6858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2980944"/>
            <a:ext cx="630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sin(a)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522976" y="2980944"/>
            <a:ext cx="3063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77840" y="2980944"/>
            <a:ext cx="3008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ā += grad·cos(a)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91456" y="3328416"/>
            <a:ext cx="685800" cy="33832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3328416"/>
            <a:ext cx="630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cos(a)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522976" y="3328416"/>
            <a:ext cx="3063240" cy="33832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77840" y="3328416"/>
            <a:ext cx="3008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ā += grad·(−sin(a))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91456" y="3675888"/>
            <a:ext cx="6858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3675888"/>
            <a:ext cx="630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exp(a)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522976" y="3675888"/>
            <a:ext cx="3063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77840" y="3675888"/>
            <a:ext cx="3008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ā += grad·exp(a)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91456" y="4023360"/>
            <a:ext cx="685800" cy="33832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4023360"/>
            <a:ext cx="630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log(a)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522976" y="4023360"/>
            <a:ext cx="3063240" cy="33832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77840" y="4023360"/>
            <a:ext cx="3008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ā += grad / a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791456" y="4370832"/>
            <a:ext cx="6858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46320" y="4370832"/>
            <a:ext cx="630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sqrt(a)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522976" y="4370832"/>
            <a:ext cx="3063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77840" y="4370832"/>
            <a:ext cx="3008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ā += grad / (2·sqrt(a))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Implementation — Reverse Mode (var.hpp)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640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Wengert tape with lambda backward functions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74980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TapeEntry {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9646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value;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1795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adjoint = 0.0;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13944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function&lt;void(double)&gt; backward;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16093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18242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20391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Var {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" y="22539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index;  // into global tape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" y="246888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value()   { return tape[index].value; 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268376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double&amp; adjoint(){ return tape[index].adjoint; 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" y="28986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" y="31135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33284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Multiplication: records backward lambda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354330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operator*(Var a, Var b) {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" y="37581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av=a.value(), bv=b.value();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" y="39730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Var(av*bv, [a,b,av,bv](double g){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41879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tape[a.index].adjoint += g*bv;  // ∂/∂a=b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" y="44028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tape[b.index].adjoint += g*av;  // ∂/∂b=a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" y="46177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" y="48326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53712" y="749808"/>
            <a:ext cx="36576" cy="4114800"/>
          </a:xfrm>
          <a:prstGeom prst="rect">
            <a:avLst/>
          </a:prstGeom>
          <a:solidFill>
            <a:srgbClr val="007E8A"/>
          </a:solidFill>
          <a:ln w="12700">
            <a:solidFill>
              <a:srgbClr val="007E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749808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backward(Var output) {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992124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tape[output.index].adjoint = 1.0;  // seed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123444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i=output.index; i&gt;=0; --i)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63440" y="147675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(tape[i].adjoint != 0.0)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63440" y="171907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tape[i].backward(tape[i].adjoint);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1961388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63440" y="2203704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63440" y="244602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Usage: f(x₁,x₂) = x₁·x₂ + sin(x₁)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63440" y="268833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clear_tape();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63440" y="293065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x1(2.0), x2(3.0);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63440" y="3172968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y = x1 * x2 + sin(x1);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63440" y="3415284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backward(y);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63440" y="365760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63440" y="389991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663440" y="414223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x1.adjoint() == 3 + cos(2) ≈ 2.584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63440" y="4384548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x2.adjoint() == 2.0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63440" y="4626864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Both in ONE backward pass!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— Why Adjoints Must Accumulate with +=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640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subtle but critical correctness requirement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120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64008" cy="3977640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875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variable is used more than once,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from ALL uses must be SUMMED.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f(x) = x·x = x² at x = 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914400" cy="40233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116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2011680"/>
            <a:ext cx="914400" cy="402336"/>
          </a:xfrm>
          <a:prstGeom prst="rect">
            <a:avLst/>
          </a:prstGeom>
          <a:solidFill>
            <a:srgbClr val="16253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0116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06240" y="2011680"/>
            <a:ext cx="914400" cy="40233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0116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y=25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28800" y="2029968"/>
            <a:ext cx="731520" cy="182880"/>
          </a:xfrm>
          <a:prstGeom prst="line">
            <a:avLst/>
          </a:prstGeom>
          <a:noFill/>
          <a:ln w="12700">
            <a:solidFill>
              <a:srgbClr val="B0C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2395728"/>
            <a:ext cx="731520" cy="-182880"/>
          </a:xfrm>
          <a:prstGeom prst="line">
            <a:avLst/>
          </a:prstGeom>
          <a:noFill/>
          <a:ln w="12700">
            <a:solidFill>
              <a:srgbClr val="B0C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2212848"/>
            <a:ext cx="731520" cy="0"/>
          </a:xfrm>
          <a:prstGeom prst="line">
            <a:avLst/>
          </a:prstGeom>
          <a:noFill/>
          <a:ln w="12700">
            <a:solidFill>
              <a:srgbClr val="B0C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input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2423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input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2743200"/>
            <a:ext cx="2194560" cy="841248"/>
          </a:xfrm>
          <a:prstGeom prst="rect">
            <a:avLst/>
          </a:prstGeom>
          <a:solidFill>
            <a:srgbClr val="6FCF97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743200"/>
            <a:ext cx="2194560" cy="8412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CORRECT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v̄₁ += ȳ·v₁ = 5  (right)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v̄₁ += ȳ·v₁ = 5  (left)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v̄₁ = 10 = 2x 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0" y="2743200"/>
            <a:ext cx="2194560" cy="841248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2743200"/>
            <a:ext cx="2194560" cy="8412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WRONG (= instead of +=)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v̄₁ = ȳ·v₁ = 5  (right)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v̄₁ = ȳ·v₁ = 5  (left, overwrites!)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v̄₁ = 5 ≠ 10  ✗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657600"/>
            <a:ext cx="4572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multivariate chain rule REQUIRES summation over all paths!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914400"/>
            <a:ext cx="33832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32120" y="914400"/>
            <a:ext cx="64008" cy="39776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05856" y="987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in var.hpp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05856" y="1325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x*x — x used twice!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05856" y="15681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x(5.0);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05856" y="18105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y = x * x;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05856" y="20528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backward(y);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05856" y="22951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05856" y="25374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 operator*(a,b):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05856" y="2779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Both a.index==b.index==x.index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05856" y="30220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tape[a.index].adjoint += g*bv;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05856" y="32644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tape[b.index].adjoint += g*av;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05856" y="35067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Same slot, accumulated!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05856" y="37490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05856" y="39913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x.adjoint() == 10  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05856" y="42336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2x = 2·5 =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vs. Reverse Mode — Full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804672"/>
            <a:ext cx="21031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" y="80467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804672"/>
            <a:ext cx="3108960" cy="384048"/>
          </a:xfrm>
          <a:prstGeom prst="rect">
            <a:avLst/>
          </a:prstGeom>
          <a:solidFill>
            <a:srgbClr val="007E8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9152" y="80467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0680" y="804672"/>
            <a:ext cx="356616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13832" y="8046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Mode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" y="118872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" y="11887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1188720"/>
            <a:ext cx="3108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118872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Output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1188720"/>
            <a:ext cx="3566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118872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Input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" y="1572768"/>
            <a:ext cx="210312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" y="15727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1572768"/>
            <a:ext cx="310896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157276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Tangents (perturbations)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40680" y="1572768"/>
            <a:ext cx="356616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13832" y="157276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Adjoints (sensitivities)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" y="1956816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" y="195681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pass computes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0" y="1956816"/>
            <a:ext cx="3108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9152" y="195681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of Jacobian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40680" y="1956816"/>
            <a:ext cx="3566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13832" y="195681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of Jacobian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37160" y="2340864"/>
            <a:ext cx="2103120" cy="384048"/>
          </a:xfrm>
          <a:prstGeom prst="rect">
            <a:avLst/>
          </a:prstGeom>
          <a:solidFill>
            <a:srgbClr val="EAF6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" y="234086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f:Rⁿ→R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0" y="2340864"/>
            <a:ext cx="3108960" cy="384048"/>
          </a:xfrm>
          <a:prstGeom prst="rect">
            <a:avLst/>
          </a:prstGeom>
          <a:solidFill>
            <a:srgbClr val="EAF6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59152" y="234086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passes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40680" y="2340864"/>
            <a:ext cx="3566160" cy="384048"/>
          </a:xfrm>
          <a:prstGeom prst="rect">
            <a:avLst/>
          </a:prstGeom>
          <a:solidFill>
            <a:srgbClr val="EAF6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34086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pass  ← ML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37160" y="2724912"/>
            <a:ext cx="2103120" cy="384048"/>
          </a:xfrm>
          <a:prstGeom prst="rect">
            <a:avLst/>
          </a:prstGeom>
          <a:solidFill>
            <a:srgbClr val="EAF6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" y="272491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f:R→Rᵐ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0" y="2724912"/>
            <a:ext cx="3108960" cy="384048"/>
          </a:xfrm>
          <a:prstGeom prst="rect">
            <a:avLst/>
          </a:prstGeom>
          <a:solidFill>
            <a:srgbClr val="EAF6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59152" y="27249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pass  ← wins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40680" y="2724912"/>
            <a:ext cx="3566160" cy="384048"/>
          </a:xfrm>
          <a:prstGeom prst="rect">
            <a:avLst/>
          </a:prstGeom>
          <a:solidFill>
            <a:srgbClr val="EAF6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72491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passes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37160" y="3108960"/>
            <a:ext cx="210312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0312" y="31089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286000" y="3108960"/>
            <a:ext cx="310896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59152" y="310896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no tape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40680" y="3108960"/>
            <a:ext cx="356616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10896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O(T) — must store tape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37160" y="3493008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0312" y="34930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86000" y="3493008"/>
            <a:ext cx="3108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59152" y="349300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 (simple)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40680" y="3493008"/>
            <a:ext cx="3566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3832" y="349300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+ reverse (complex)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37160" y="3877056"/>
            <a:ext cx="210312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0312" y="387705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basis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0" y="3877056"/>
            <a:ext cx="310896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59152" y="38770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numbers (ε²=0)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40680" y="3877056"/>
            <a:ext cx="356616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3832" y="387705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 on DAG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37160" y="4261104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0312" y="4261104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286000" y="4261104"/>
            <a:ext cx="3108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59152" y="426110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inputs, many outputs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440680" y="4261104"/>
            <a:ext cx="3566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13832" y="426110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inputs, few outputs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37160" y="4645152"/>
            <a:ext cx="210312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0312" y="464515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286000" y="4645152"/>
            <a:ext cx="310896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59152" y="464515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solvers, sensitivity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440680" y="4645152"/>
            <a:ext cx="3566160" cy="38404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13832" y="464515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TensorFlow, JAX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37160" y="804672"/>
            <a:ext cx="64008" cy="42245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JVP and VJP — The Fundamental Matrix Operations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640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 : Rⁿ → Rᵐ with Jacobian J ∈ Rᵐˣⁿ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41248"/>
            <a:ext cx="64008" cy="4114800"/>
          </a:xfrm>
          <a:prstGeom prst="rect">
            <a:avLst/>
          </a:prstGeom>
          <a:solidFill>
            <a:srgbClr val="007E8A"/>
          </a:solidFill>
          <a:ln w="12700">
            <a:solidFill>
              <a:srgbClr val="007E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41248"/>
            <a:ext cx="4160520" cy="457200"/>
          </a:xfrm>
          <a:prstGeom prst="rect">
            <a:avLst/>
          </a:prstGeom>
          <a:solidFill>
            <a:srgbClr val="007E8A"/>
          </a:solidFill>
          <a:ln w="12700">
            <a:solidFill>
              <a:srgbClr val="007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412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JVP — Jacobian-Vector Product (Forward)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ẏ = J · v̇    where v̇ ∈ Rⁿ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18470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the inputs with dual parts = v̇ ∈ Rⁿ.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forward pass gives J·v̇ ∈ Rᵐ.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4323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column j of J: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v̇ = eⱼ  (all zeros except position j=1)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3657600" cy="384048"/>
          </a:xfrm>
          <a:prstGeom prst="rect">
            <a:avLst/>
          </a:prstGeom>
          <a:solidFill>
            <a:srgbClr val="D0F0F4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17520"/>
            <a:ext cx="365760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passes → full Jacobian (column by column)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3493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sensitivity analysis, ODE solvers,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derivatives, Newton Krylov methods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98848" y="841248"/>
            <a:ext cx="137160" cy="41148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841248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41248"/>
            <a:ext cx="64008" cy="4114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841248"/>
            <a:ext cx="416052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8412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VJP — Vector-Jacobian Product (Reverse)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x̄ = Jᵀ · ū    where ū ∈ Rᵐ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18470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the outputs with adjoint ū ∈ Rᵐ.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backward pass gives Jᵀ·ū ∈ Rⁿ.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4323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row i of J: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ū = eᵢ  (all zeros except position i=1)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92040" y="3017520"/>
            <a:ext cx="3657600" cy="384048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017520"/>
            <a:ext cx="365760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passes → full Jacobian (row by row)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2040" y="3493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gradient of scalar loss (m=1),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backpropagation, adjoint-state method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Jacobian — Worked Example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640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f(x₁,x₂) = (x₁·x₂, sin(x₁)+x₂²)  at (2,3)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41248"/>
            <a:ext cx="64008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14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Jacobian J ∈ R²ˣ²: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[ ∂f₁/∂x₁  ∂f₁/∂x₂ ] = [ x₂      x₁   ] = [ 3       2  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 ∂f₂/∂x₁  ∂f₂/∂x₂ ]   [ cos(x₁)  2x₂ ]   [ -0.416  6  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1700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 ∂f₁/∂x₁  ∂f₁/∂x₂ ]   [ x₂      x₁   ] = [ 3       2  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395728"/>
            <a:ext cx="41605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395728"/>
            <a:ext cx="64008" cy="25146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Mode — 2 passes (column by column)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2788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1: v̇ = (1,0)  → column 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044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x₁=2+1ε, x₂=3+0ε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2826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f₁ = x₁·x₂ = 6+3ε  → J[0,0]=3 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20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f₂ = sin(2+ε)+9 = sin2+cos2·ε  → J[1,0]=cos2 ✓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2: v̇ = (0,1)  → column 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0782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x₁=2, x₂=3+1ε  → J[:,1]=(2, 6) ✓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2395728"/>
            <a:ext cx="4297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395728"/>
            <a:ext cx="64008" cy="2514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Mode — 2 passes (row by row)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27889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forward pass → record tape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3072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 1: ū=(1,0)  → row 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2040" y="33101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f₁=x₁x₂ contributes: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35295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x̄₁=x₂=3, x̄₂=x₁=2  → J[0,:]=(3,2) ✓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73168" y="3822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 2: ū=(0,1)  → row 1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92040" y="40782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J[1,:]=(cos2, 6) ✓  — same Jacobian!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841248"/>
            <a:ext cx="4297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841248"/>
            <a:ext cx="64008" cy="1463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914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73168" y="1188720"/>
            <a:ext cx="17373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11887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47104" y="1188720"/>
            <a:ext cx="12801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1188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863840" y="1188720"/>
            <a:ext cx="10058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0416" y="1188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73168" y="1463040"/>
            <a:ext cx="1737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9744" y="1463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(n=1000,m=1)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547104" y="1463040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1463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passes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863840" y="1463040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0416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passes 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73168" y="1737360"/>
            <a:ext cx="1737360" cy="256032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(n=3,m=100)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47104" y="1737360"/>
            <a:ext cx="1280160" cy="256032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1737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passes 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863840" y="1737360"/>
            <a:ext cx="1005840" cy="256032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0416" y="1737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passes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73168" y="2011680"/>
            <a:ext cx="1737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9744" y="2011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(n=m=50)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47104" y="2011680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passes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863840" y="2011680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00416" y="2011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passes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Neural Network Backpropagation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47548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loss( softmax( W₃·σ( W₂·σ( W₁·x + b₁ ) + b₂ ) + b₃ ),  yₜᵣᵤₑ 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371600"/>
            <a:ext cx="64008" cy="35661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371600"/>
            <a:ext cx="4206240" cy="438912"/>
          </a:xfrm>
          <a:prstGeom prst="rect">
            <a:avLst/>
          </a:prstGeom>
          <a:solidFill>
            <a:srgbClr val="007E8A"/>
          </a:solidFill>
          <a:ln w="12700">
            <a:solidFill>
              <a:srgbClr val="007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716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(Inference)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18836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Feed input x through all layers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221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prediction 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Compute loss L = loss(ŷ, yₜᵣᵤₑ)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2898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Record EVERY intermediate value on tape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236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35753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 as standard forward inference,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3913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but record operations for backprop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4251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371600"/>
            <a:ext cx="64008" cy="3566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371600"/>
            <a:ext cx="4251960" cy="438912"/>
          </a:xfrm>
          <a:prstGeom prst="rect">
            <a:avLst/>
          </a:prstGeom>
          <a:solidFill>
            <a:srgbClr val="B06A15"/>
          </a:solidFill>
          <a:ln w="12700">
            <a:solidFill>
              <a:srgbClr val="B06A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3716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 (Backpropagation)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28032" y="18836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Seed: ∂L/∂L = 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221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Reverse through tape layer by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Compute ∂L/∂Wᵢ for ALL weights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2898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 a SINGLE backward sweep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28032" y="32369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35753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Gradient descent update: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3913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Wᵢ ← Wᵢ − η · ∂L/∂Wᵢ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4251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4590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params? Still just 1 pass.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Tradeoffs &amp; Gradient Checkpointing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640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mode's main drawback: the tape must be stored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84632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64008" cy="400507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418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mode stores EVERY intermediate value from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forward pass on the tape. For deep networks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training, this can exhaust GPU memory.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240280"/>
            <a:ext cx="4480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240280"/>
            <a:ext cx="91440" cy="566928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58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everything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514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O(T)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514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1×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898648"/>
            <a:ext cx="4480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898648"/>
            <a:ext cx="91440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16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every √T layers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172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O(√T)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3172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≤2×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557016"/>
            <a:ext cx="4480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557016"/>
            <a:ext cx="91440" cy="566928"/>
          </a:xfrm>
          <a:prstGeom prst="rect">
            <a:avLst/>
          </a:prstGeom>
          <a:solidFill>
            <a:srgbClr val="6FCF97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75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all (no tape)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831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O(1)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68880" y="3831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O(T)×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206240"/>
            <a:ext cx="4480560" cy="31089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062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O(√T) is the sweet spot — used in PyTorch &amp; TensorFlow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257800" y="868680"/>
            <a:ext cx="365760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57800" y="868680"/>
            <a:ext cx="64008" cy="40050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13248" y="941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Mode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13248" y="1298448"/>
            <a:ext cx="3337560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58968" y="13167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∇f  (scalar loss)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15200" y="1344168"/>
            <a:ext cx="1371600" cy="310896"/>
          </a:xfrm>
          <a:prstGeom prst="rect">
            <a:avLst/>
          </a:prstGeom>
          <a:solidFill>
            <a:srgbClr val="007E8A"/>
          </a:solidFill>
          <a:ln w="12700">
            <a:solidFill>
              <a:srgbClr val="007E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1344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 (1 pass)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13248" y="1773936"/>
            <a:ext cx="3337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58968" y="1792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J·v  (directional)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15200" y="1819656"/>
            <a:ext cx="137160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18196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 (1 pass)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13248" y="2249424"/>
            <a:ext cx="3337560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58968" y="2267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uᵀJ  (VJP)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315200" y="2295144"/>
            <a:ext cx="1371600" cy="310896"/>
          </a:xfrm>
          <a:prstGeom prst="rect">
            <a:avLst/>
          </a:prstGeom>
          <a:solidFill>
            <a:srgbClr val="007E8A"/>
          </a:solidFill>
          <a:ln w="12700">
            <a:solidFill>
              <a:srgbClr val="007E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22951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 (1 pass)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13248" y="2724912"/>
            <a:ext cx="3337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58968" y="2743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≪ m  (few inputs)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315200" y="2770632"/>
            <a:ext cx="137160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27706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 (n passes)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13248" y="3200400"/>
            <a:ext cx="3337560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58968" y="32186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≪ n  (few outputs)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315200" y="3246120"/>
            <a:ext cx="1371600" cy="310896"/>
          </a:xfrm>
          <a:prstGeom prst="rect">
            <a:avLst/>
          </a:prstGeom>
          <a:solidFill>
            <a:srgbClr val="007E8A"/>
          </a:solidFill>
          <a:ln w="12700">
            <a:solidFill>
              <a:srgbClr val="007E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0" y="3246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 (m passes)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13248" y="3675888"/>
            <a:ext cx="3337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58968" y="36941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sparse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315200" y="3721608"/>
            <a:ext cx="137160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0" y="37216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+ coloring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413248" y="4151376"/>
            <a:ext cx="3337560" cy="420624"/>
          </a:xfrm>
          <a:prstGeom prst="rect">
            <a:avLst/>
          </a:prstGeom>
          <a:solidFill>
            <a:srgbClr val="F0F6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58968" y="41696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Hessian-vector H·v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315200" y="4197096"/>
            <a:ext cx="1371600" cy="310896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0" y="41970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Forward-over-Reverse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816352" cy="1755648"/>
          </a:xfrm>
          <a:prstGeom prst="rect">
            <a:avLst/>
          </a:prstGeom>
          <a:solidFill>
            <a:srgbClr val="162535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502920" cy="17556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5029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8961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Numbers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225296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z=a+bε with ε²=0. Evaluating f(a+bε) yields f(a)+f′(a)bε — exact derivative as dual part.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804672"/>
            <a:ext cx="2816352" cy="1755648"/>
          </a:xfrm>
          <a:prstGeom prst="rect">
            <a:avLst/>
          </a:prstGeom>
          <a:solidFill>
            <a:srgbClr val="162535"/>
          </a:solidFill>
          <a:ln w="12700">
            <a:solidFill>
              <a:srgbClr val="007E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804672"/>
            <a:ext cx="502920" cy="1755648"/>
          </a:xfrm>
          <a:prstGeom prst="rect">
            <a:avLst/>
          </a:prstGeom>
          <a:solidFill>
            <a:srgbClr val="007E8A"/>
          </a:solidFill>
          <a:ln w="12700">
            <a:solidFill>
              <a:srgbClr val="007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804672"/>
            <a:ext cx="5029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85616" y="8961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85616" y="1225296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inputs with ε, overload operators. Propagates tangents. O(1) memory, n passes for full gradient.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804672"/>
            <a:ext cx="2816352" cy="1755648"/>
          </a:xfrm>
          <a:prstGeom prst="rect">
            <a:avLst/>
          </a:prstGeom>
          <a:solidFill>
            <a:srgbClr val="16253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804672"/>
            <a:ext cx="502920" cy="17556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804672"/>
            <a:ext cx="5029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9984" y="8961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Wengert Tape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9984" y="1225296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each operation with its backward λ. Backward pass traverses tape in reverse, accumulating adjoints.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743200"/>
            <a:ext cx="2816352" cy="1755648"/>
          </a:xfrm>
          <a:prstGeom prst="rect">
            <a:avLst/>
          </a:prstGeom>
          <a:solidFill>
            <a:srgbClr val="162535"/>
          </a:solidFill>
          <a:ln w="12700">
            <a:solidFill>
              <a:srgbClr val="B06A1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743200"/>
            <a:ext cx="502920" cy="1755648"/>
          </a:xfrm>
          <a:prstGeom prst="rect">
            <a:avLst/>
          </a:prstGeom>
          <a:solidFill>
            <a:srgbClr val="B06A15"/>
          </a:solidFill>
          <a:ln w="12700">
            <a:solidFill>
              <a:srgbClr val="B06A1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743200"/>
            <a:ext cx="5029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1248" y="28346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Mode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3163824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backward pass gives ∇f for ALL inputs. O(T) memory. Basis of backpropagation in ML.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18688" y="2743200"/>
            <a:ext cx="2816352" cy="1755648"/>
          </a:xfrm>
          <a:prstGeom prst="rect">
            <a:avLst/>
          </a:prstGeom>
          <a:solidFill>
            <a:srgbClr val="162535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8688" y="2743200"/>
            <a:ext cx="502920" cy="1755648"/>
          </a:xfrm>
          <a:prstGeom prst="rect">
            <a:avLst/>
          </a:prstGeom>
          <a:solidFill>
            <a:srgbClr val="6FCF97"/>
          </a:solidFill>
          <a:ln w="12700">
            <a:solidFill>
              <a:srgbClr val="6FCF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2743200"/>
            <a:ext cx="5029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785616" y="28346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85616" y="3163824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n passes, column by column (JVP). Reverse: m passes, row by row (VJP). Choose min(n,m).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63056" y="2743200"/>
            <a:ext cx="2816352" cy="1755648"/>
          </a:xfrm>
          <a:prstGeom prst="rect">
            <a:avLst/>
          </a:prstGeom>
          <a:solidFill>
            <a:srgbClr val="162535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3056" y="2743200"/>
            <a:ext cx="502920" cy="17556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2743200"/>
            <a:ext cx="50292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29984" y="28346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9984" y="3163824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is exact, efficient, and composable. Reverse mode makes training million-param networks tractable.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Differentiation</dc:title>
  <dc:subject>PptxGenJS Presentation</dc:subject>
  <dc:creator>PptxGenJS</dc:creator>
  <cp:lastModifiedBy>PptxGenJS</cp:lastModifiedBy>
  <cp:revision>1</cp:revision>
  <dcterms:created xsi:type="dcterms:W3CDTF">2026-02-28T16:39:22Z</dcterms:created>
  <dcterms:modified xsi:type="dcterms:W3CDTF">2026-02-28T16:39:22Z</dcterms:modified>
</cp:coreProperties>
</file>