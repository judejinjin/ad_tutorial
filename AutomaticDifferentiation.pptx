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68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97052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0"/>
            <a:ext cx="2743200" cy="5143500"/>
          </a:xfrm>
          <a:prstGeom prst="rect">
            <a:avLst/>
          </a:prstGeom>
          <a:solidFill>
            <a:srgbClr val="162535"/>
          </a:solidFill>
          <a:ln w="12700">
            <a:solidFill>
              <a:srgbClr val="16253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0"/>
            <a:ext cx="365760" cy="5143500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54864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365760" y="137160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Differentiation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365760" y="2395728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Mode · Reverse Mode · Jacobians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65760" y="2944368"/>
            <a:ext cx="1325880" cy="347472"/>
          </a:xfrm>
          <a:prstGeom prst="rect">
            <a:avLst/>
          </a:prstGeom>
          <a:solidFill>
            <a:srgbClr val="007E8A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2944368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Numbers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28800" y="2944368"/>
            <a:ext cx="1325880" cy="347472"/>
          </a:xfrm>
          <a:prstGeom prst="rect">
            <a:avLst/>
          </a:prstGeom>
          <a:solidFill>
            <a:srgbClr val="007E8A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0" y="2944368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Wengert Tape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91840" y="2944368"/>
            <a:ext cx="1325880" cy="347472"/>
          </a:xfrm>
          <a:prstGeom prst="rect">
            <a:avLst/>
          </a:prstGeom>
          <a:solidFill>
            <a:srgbClr val="007E8A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91840" y="2944368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JVP / VJP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754880" y="2944368"/>
            <a:ext cx="1325880" cy="347472"/>
          </a:xfrm>
          <a:prstGeom prst="rect">
            <a:avLst/>
          </a:prstGeom>
          <a:solidFill>
            <a:srgbClr val="007E8A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0" y="2944368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46520" y="10972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C2C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f(x+ε) = f(x) + f′(x)ε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46520" y="1600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ε² = 0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46520" y="2194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B0C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ȳ = J⊤ · ū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46520" y="28346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FCF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∇L in 1 pass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8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658368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Compute Derivatives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56032" y="64008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automatic differentiation wins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1005840"/>
            <a:ext cx="274320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B5757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1005840"/>
            <a:ext cx="2743200" cy="566928"/>
          </a:xfrm>
          <a:prstGeom prst="rect">
            <a:avLst/>
          </a:prstGeom>
          <a:solidFill>
            <a:srgbClr val="EB5757"/>
          </a:solidFill>
          <a:ln w="12700">
            <a:solidFill>
              <a:srgbClr val="EB575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005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∑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95528" y="1005840"/>
            <a:ext cx="2176272" cy="56692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Symbolic Diff.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38328" y="1664208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FC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Pros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8328" y="1956816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Exact algebraic result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38328" y="2249424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Human-readable output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38328" y="2852928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B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Cons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38328" y="3145536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Expression swell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38328" y="3438144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Exponentially large terms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38328" y="3730752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Hard to automate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72968" y="1005840"/>
            <a:ext cx="274320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4A261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172968" y="1005840"/>
            <a:ext cx="2743200" cy="56692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172968" y="1005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739896" y="1005840"/>
            <a:ext cx="2176272" cy="56692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 Diff.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282696" y="1664208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FC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Pros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282696" y="1956816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Easy to implement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282696" y="2249424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Works on any black-box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282696" y="2852928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B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Cons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282696" y="3145536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Floating-point error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282696" y="3438144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Truncation error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282696" y="3730752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Slow (O(n) extra evals)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17336" y="1005840"/>
            <a:ext cx="274320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C2CB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117336" y="1005840"/>
            <a:ext cx="2743200" cy="566928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17336" y="1005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6684264" y="1005840"/>
            <a:ext cx="2176272" cy="56692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Diff.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227064" y="1664208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FC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Pros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227064" y="1956816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Exact (machine precision)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227064" y="2249424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Efficient — 1 pass for gradient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227064" y="2542032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Handles arbitrary code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227064" y="2852928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B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Cons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227064" y="3145536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Memory overhead (reverse)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227064" y="3438144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Tape setup cost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8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658368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Numbers — The Algebraic Foundation of Forward Mode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28600" y="960120"/>
            <a:ext cx="42062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960120"/>
            <a:ext cx="64008" cy="1463040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51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dual number has the form: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38988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 = a + b·ε    where  ε² = 0, ε ≠ 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1810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primal (value)   ·   b = tangent (derivative)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28600" y="25603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Analogy with number systems: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28600" y="2852928"/>
            <a:ext cx="658368" cy="347472"/>
          </a:xfrm>
          <a:prstGeom prst="rect">
            <a:avLst/>
          </a:prstGeom>
          <a:solidFill>
            <a:srgbClr val="B0C4D8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28600" y="2852928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60120" y="2852928"/>
            <a:ext cx="1737360" cy="34747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743200" y="2852928"/>
            <a:ext cx="1645920" cy="34747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on line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28600" y="3291840"/>
            <a:ext cx="658368" cy="347472"/>
          </a:xfrm>
          <a:prstGeom prst="rect">
            <a:avLst/>
          </a:prstGeom>
          <a:solidFill>
            <a:srgbClr val="B0C4D8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600" y="3291840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60120" y="3291840"/>
            <a:ext cx="1737360" cy="34747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+ bi, i²=−1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743200" y="3291840"/>
            <a:ext cx="1645920" cy="34747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+ rotation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8600" y="3730752"/>
            <a:ext cx="658368" cy="347472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28600" y="3730752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60120" y="3730752"/>
            <a:ext cx="1737360" cy="34747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+ bε, ε²=0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743200" y="3730752"/>
            <a:ext cx="1645920" cy="34747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+ tangent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17720" y="960120"/>
            <a:ext cx="42976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17720" y="960120"/>
            <a:ext cx="64008" cy="393192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73168" y="102412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Insight: Taylor Expansion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773168" y="13716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f(a+bε) = f(a) + b·f′(a)·ε + b²·f″(a)·ε²/2! + ...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773168" y="1755648"/>
            <a:ext cx="3931920" cy="34747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73168" y="175564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ε² = 0, ALL higher terms vanish!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773168" y="22402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f(a + bε) = f(a) + b·f′(a)·ε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4773168" y="2743200"/>
            <a:ext cx="3931920" cy="64008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part →  f(a)  (function value)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part →  b·f′(a)  (exact derivative)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773168" y="3520440"/>
            <a:ext cx="393192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73168" y="35204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approximation · No limits · Exact to machine precision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658368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Number Arithmetic — Rules Table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56032" y="64008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rule encodes a calculus identity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14400"/>
            <a:ext cx="164592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9144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901952" y="914400"/>
            <a:ext cx="411480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93392" y="9144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Formula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053328" y="914400"/>
            <a:ext cx="210312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44768" y="91440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Calculus rule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28600" y="1298448"/>
            <a:ext cx="16459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129844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901952" y="1298448"/>
            <a:ext cx="41148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993392" y="129844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(a+bε)+(c+dε) = (a+c)+(b+d)ε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53328" y="1298448"/>
            <a:ext cx="2103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129844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7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 rule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28600" y="1682496"/>
            <a:ext cx="1645920" cy="384048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168249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Subtraction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901952" y="1682496"/>
            <a:ext cx="4114800" cy="384048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993392" y="1682496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(a+bε)−(c+dε) = (a−c)+(b−d)ε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053328" y="1682496"/>
            <a:ext cx="2103120" cy="384048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44768" y="168249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7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 rule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28600" y="2066544"/>
            <a:ext cx="16459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0040" y="206654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Multiplication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1901952" y="2066544"/>
            <a:ext cx="41148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93392" y="206654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(a+bε)(c+dε) = ac+(ad+bc)ε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53328" y="2066544"/>
            <a:ext cx="2103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44768" y="206654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7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rule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28600" y="2450592"/>
            <a:ext cx="1645920" cy="384048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0040" y="245059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1901952" y="2450592"/>
            <a:ext cx="4114800" cy="384048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93392" y="245059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(a+bε)/(c+dε) = a/c + (bc−ad)/c²·ε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053328" y="2450592"/>
            <a:ext cx="2103120" cy="384048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44768" y="245059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7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Quotient rule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28600" y="2834640"/>
            <a:ext cx="16459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0040" y="283464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sin(a+bε)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1901952" y="2834640"/>
            <a:ext cx="41148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993392" y="28346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sin(a) + b·cos(a)·ε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053328" y="2834640"/>
            <a:ext cx="2103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144768" y="283464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7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rule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28600" y="3218688"/>
            <a:ext cx="1645920" cy="384048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0040" y="321868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cos(a+bε)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901952" y="3218688"/>
            <a:ext cx="4114800" cy="384048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993392" y="321868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cos(a) − b·sin(a)·ε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053328" y="3218688"/>
            <a:ext cx="2103120" cy="384048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144768" y="321868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7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rule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228600" y="3602736"/>
            <a:ext cx="16459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20040" y="360273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exp(a+bε)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1901952" y="3602736"/>
            <a:ext cx="41148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993392" y="3602736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eᵃ + b·eᵃ·ε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053328" y="3602736"/>
            <a:ext cx="2103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144768" y="360273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7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rule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28600" y="3986784"/>
            <a:ext cx="1645920" cy="384048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20040" y="398678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log(a+bε)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1901952" y="3986784"/>
            <a:ext cx="4114800" cy="384048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993392" y="398678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ln(a) + b/a·ε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6053328" y="3986784"/>
            <a:ext cx="2103120" cy="384048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144768" y="398678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7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rule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228600" y="4370832"/>
            <a:ext cx="16459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20040" y="437083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sqrt(a+bε)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1901952" y="4370832"/>
            <a:ext cx="41148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993392" y="437083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√a + b/(2√a)·ε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6053328" y="4370832"/>
            <a:ext cx="2103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144768" y="437083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7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rule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228600" y="914400"/>
            <a:ext cx="73152" cy="3840480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658368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Mode — Worked Examples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56032" y="64008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dual.hpp and forward_mode.cpp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14400"/>
            <a:ext cx="278892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0C4D8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14400"/>
            <a:ext cx="2788920" cy="438912"/>
          </a:xfrm>
          <a:prstGeom prst="rect">
            <a:avLst/>
          </a:prstGeom>
          <a:solidFill>
            <a:srgbClr val="162535"/>
          </a:solidFill>
          <a:ln w="12700">
            <a:solidFill>
              <a:srgbClr val="16253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91440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2C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f(x) = x² at x = 3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38328" y="144475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Steps: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" y="171907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Set x = 3 + 1·ε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38328" y="210312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(3+ε)² = 9 + 6ε + ε² = 9 + 6ε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8328" y="2596896"/>
            <a:ext cx="2560320" cy="475488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" y="2596896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f(3) = 9  ·  f′(3) = 6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38328" y="314553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FC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f′(x)=2x → 2·3=6 ✓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0" y="914400"/>
            <a:ext cx="278892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0C4D8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0" y="914400"/>
            <a:ext cx="2788920" cy="438912"/>
          </a:xfrm>
          <a:prstGeom prst="rect">
            <a:avLst/>
          </a:prstGeom>
          <a:solidFill>
            <a:srgbClr val="162535"/>
          </a:solidFill>
          <a:ln w="12700">
            <a:solidFill>
              <a:srgbClr val="1625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91840" y="91440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2C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f(x) = x³+2x at x = 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310128" y="144475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Steps: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310128" y="171907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Set x = 2 + 1·ε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310128" y="210312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(2+ε)³ = 8+12ε  →  +2(2+ε) = 4+2ε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310128" y="248716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Total: 12 + 14ε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310128" y="2980944"/>
            <a:ext cx="2560320" cy="475488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10128" y="2980944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f(2) = 12  ·  f′(2) = 14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310128" y="352958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FC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f′(x)=3x²+2 → 14 ✓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72200" y="914400"/>
            <a:ext cx="278892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0C4D8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172200" y="914400"/>
            <a:ext cx="2788920" cy="438912"/>
          </a:xfrm>
          <a:prstGeom prst="rect">
            <a:avLst/>
          </a:prstGeom>
          <a:solidFill>
            <a:srgbClr val="162535"/>
          </a:solidFill>
          <a:ln w="12700">
            <a:solidFill>
              <a:srgbClr val="16253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63640" y="91440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2C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f(x) = sin(x²) at x = 3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81928" y="144475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Steps: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281928" y="171907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Step 1: g = x² = 9+6ε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281928" y="210312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Step 2: sin(9+6ε) = sin(9)+6cos(9)·ε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281928" y="2596896"/>
            <a:ext cx="2560320" cy="475488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81928" y="2596896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f(3) = sin(9)  ·  f′(3) = 6cos(9)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281928" y="314553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FC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rule auto-handled! ✓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D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658368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Implementation — Forward Mode (dual.hpp)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56032" y="64008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overloading carries derivatives automatically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4320" y="7772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struct Dual {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4320" y="10698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double real;   // f(x) — value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74320" y="132588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double dual;   // f′(x) — derivative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74320" y="158191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4320" y="19202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Product rule: (ab)′ = ab′ + a′b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74320" y="217627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Dual operator*(Dual a, Dual b) {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74320" y="243230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{ a.real * b.real,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74320" y="268833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a.real * b.dual + a.dual * b.real };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74320" y="294436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74320" y="32918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Dual sin(Dual x) {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74320" y="354787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{ sin(x.real), x.dual * cos(x.real) };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" y="380390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26280" y="749808"/>
            <a:ext cx="36576" cy="4114800"/>
          </a:xfrm>
          <a:prstGeom prst="rect">
            <a:avLst/>
          </a:prstGeom>
          <a:solidFill>
            <a:srgbClr val="007E8A"/>
          </a:solidFill>
          <a:ln w="12700">
            <a:solidFill>
              <a:srgbClr val="007E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0" y="7772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Usage: f(x) = sin(x²) at x = 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63440" y="10698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Dual x(3.0, 1.0);   // value=3, deriv=1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663440" y="132588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Dual r = sin(x * x);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63440" y="1691640"/>
            <a:ext cx="4114800" cy="658368"/>
          </a:xfrm>
          <a:prstGeom prst="rect">
            <a:avLst/>
          </a:prstGeom>
          <a:solidFill>
            <a:srgbClr val="0D2136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73168" y="174650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r.real == sin(9)     // = -0.4121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73168" y="200253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r.dual == 6*cos(9)  // = 5.4666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663440" y="251460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Partial derivatives: f(x₁,x₂)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663440" y="277063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Dual x1(2.0, 1.0), x2(3.0, 0.0); // ∂/∂x₁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663440" y="302666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Dual x1(2.0, 0.0), x2(3.0, 1.0); // ∂/∂x₂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4114800" cy="658368"/>
          </a:xfrm>
          <a:prstGeom prst="rect">
            <a:avLst/>
          </a:prstGeom>
          <a:solidFill>
            <a:srgbClr val="007E8A"/>
          </a:solidFill>
          <a:ln w="12700">
            <a:solidFill>
              <a:srgbClr val="007E8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just overload operators.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663440" y="3730752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compiler handles the chain rule!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8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658368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Mode — Computation Graph (Wengert Tape)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56032" y="64008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f(x₁, x₂) = x₁·x₂ + sin(x₁) at x₁=2, x₂=3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078992"/>
            <a:ext cx="822960" cy="402336"/>
          </a:xfrm>
          <a:prstGeom prst="ellipse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7899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x₁=2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1480" y="2724912"/>
            <a:ext cx="822960" cy="402336"/>
          </a:xfrm>
          <a:prstGeom prst="ellipse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272491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x₂=3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88920" y="1536192"/>
            <a:ext cx="822960" cy="402336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88920" y="153619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v₃=6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88920" y="3090672"/>
            <a:ext cx="822960" cy="402336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88920" y="309067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v₄≈0.91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892040" y="2267712"/>
            <a:ext cx="822960" cy="402336"/>
          </a:xfrm>
          <a:prstGeom prst="ellipse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92040" y="226771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y≈6.91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034540" y="1536192"/>
            <a:ext cx="502920" cy="402336"/>
          </a:xfrm>
          <a:prstGeom prst="rect">
            <a:avLst/>
          </a:prstGeom>
          <a:solidFill>
            <a:srgbClr val="162535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034540" y="1536192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×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034540" y="3090672"/>
            <a:ext cx="502920" cy="402336"/>
          </a:xfrm>
          <a:prstGeom prst="rect">
            <a:avLst/>
          </a:prstGeom>
          <a:solidFill>
            <a:srgbClr val="162535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034540" y="3090672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sin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229100" y="2267712"/>
            <a:ext cx="502920" cy="402336"/>
          </a:xfrm>
          <a:prstGeom prst="rect">
            <a:avLst/>
          </a:prstGeom>
          <a:solidFill>
            <a:srgbClr val="162535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29100" y="2267712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234440" y="1280160"/>
            <a:ext cx="804672" cy="457200"/>
          </a:xfrm>
          <a:prstGeom prst="line">
            <a:avLst/>
          </a:prstGeom>
          <a:noFill/>
          <a:ln w="12700">
            <a:solidFill>
              <a:srgbClr val="B0C4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34440" y="2926080"/>
            <a:ext cx="804672" cy="0"/>
          </a:xfrm>
          <a:prstGeom prst="line">
            <a:avLst/>
          </a:prstGeom>
          <a:noFill/>
          <a:ln w="12700">
            <a:solidFill>
              <a:srgbClr val="B0C4D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34440" y="1280160"/>
            <a:ext cx="804672" cy="2011680"/>
          </a:xfrm>
          <a:prstGeom prst="line">
            <a:avLst/>
          </a:prstGeom>
          <a:noFill/>
          <a:ln w="12700">
            <a:solidFill>
              <a:srgbClr val="B0C4D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42032" y="1737360"/>
            <a:ext cx="1938528" cy="731520"/>
          </a:xfrm>
          <a:prstGeom prst="line">
            <a:avLst/>
          </a:prstGeom>
          <a:noFill/>
          <a:ln w="12700">
            <a:solidFill>
              <a:srgbClr val="B0C4D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42032" y="3291840"/>
            <a:ext cx="1938528" cy="0"/>
          </a:xfrm>
          <a:prstGeom prst="line">
            <a:avLst/>
          </a:prstGeom>
          <a:noFill/>
          <a:ln w="12700">
            <a:solidFill>
              <a:srgbClr val="B0C4D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727448" y="2468880"/>
            <a:ext cx="576072" cy="0"/>
          </a:xfrm>
          <a:prstGeom prst="line">
            <a:avLst/>
          </a:prstGeom>
          <a:noFill/>
          <a:ln w="12700">
            <a:solidFill>
              <a:srgbClr val="B0C4D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760720" y="914400"/>
            <a:ext cx="315468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760720" y="914400"/>
            <a:ext cx="64008" cy="4023360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9875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Pass — Values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943600" y="1298448"/>
            <a:ext cx="594360" cy="34747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1298448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583680" y="1298448"/>
            <a:ext cx="1143000" cy="34747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83680" y="1298448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772400" y="1298448"/>
            <a:ext cx="1097280" cy="34747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772400" y="129844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943600" y="1664208"/>
            <a:ext cx="594360" cy="40233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89320" y="1664208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v₁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583680" y="1664208"/>
            <a:ext cx="1143000" cy="40233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29400" y="166420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x₁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72400" y="1664208"/>
            <a:ext cx="1097280" cy="40233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818120" y="1664208"/>
            <a:ext cx="1051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5943600" y="2066544"/>
            <a:ext cx="59436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89320" y="2066544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v₂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6583680" y="2066544"/>
            <a:ext cx="11430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629400" y="2066544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x₂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7772400" y="2066544"/>
            <a:ext cx="10972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818120" y="2066544"/>
            <a:ext cx="1051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5943600" y="2468880"/>
            <a:ext cx="594360" cy="40233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989320" y="2468880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v₃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6583680" y="2468880"/>
            <a:ext cx="1143000" cy="40233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29400" y="2468880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v₁·v₂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7772400" y="2468880"/>
            <a:ext cx="1097280" cy="40233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818120" y="2468880"/>
            <a:ext cx="1051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943600" y="2871216"/>
            <a:ext cx="59436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989320" y="2871216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v₄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6583680" y="2871216"/>
            <a:ext cx="11430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629400" y="2871216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sin(v₁)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772400" y="2871216"/>
            <a:ext cx="10972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818120" y="2871216"/>
            <a:ext cx="1051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0.909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943600" y="3273552"/>
            <a:ext cx="594360" cy="40233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989320" y="3273552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6583680" y="3273552"/>
            <a:ext cx="1143000" cy="40233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629400" y="327355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v₃+v₄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7772400" y="3273552"/>
            <a:ext cx="1097280" cy="40233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18120" y="3273552"/>
            <a:ext cx="1051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6.909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943600" y="3703320"/>
            <a:ext cx="2926080" cy="320040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943600" y="37033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recorded on tape →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658368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Backward Pass — Propagating Adjoints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56032" y="64008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Adjoint v̄ᵢ = ∂y/∂vᵢ  ·  accumulate with +=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841248"/>
            <a:ext cx="420624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841248"/>
            <a:ext cx="64008" cy="420624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9144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backward pass for f = x₁·x₂ + sin(x₁)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92608" y="1298448"/>
            <a:ext cx="4005072" cy="594360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131673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Seed output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84048" y="15544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v̄₅ = 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17520" y="135331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007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(∂y/∂y = 1)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92608" y="1947672"/>
            <a:ext cx="4005072" cy="594360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4048" y="196596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v₅ = v₃+v₄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84048" y="220370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v̄₃ += v̄₅·1 = 1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v̄₄ += v̄₅·1 = 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17520" y="200253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007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 splits equally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92608" y="2596896"/>
            <a:ext cx="4005072" cy="594360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261518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v₄ = sin(v₁)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84048" y="285292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v̄₁ += v̄₄·cos(v₁)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= 1·cos(2) ≈ −0.416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017520" y="26517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007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rule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92608" y="3246120"/>
            <a:ext cx="4005072" cy="594360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4048" y="326440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v₃ = v₁·v₂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84048" y="350215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v̄₁ += v̄₃·v₂ = 1·3 = 3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v̄₂ += v̄₃·v₁ = 1·2 = 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017520" y="330098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007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rule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92608" y="3895344"/>
            <a:ext cx="4005072" cy="594360"/>
          </a:xfrm>
          <a:prstGeom prst="rect">
            <a:avLst/>
          </a:prstGeom>
          <a:solidFill>
            <a:srgbClr val="00C2CB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391363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Final gradients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84048" y="415137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∂f/∂x₁ = 3+cos(2) ≈ 2.584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∂f/∂x₂ = 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017520" y="395020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from 1 pass! ✓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17720" y="841248"/>
            <a:ext cx="429768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17720" y="841248"/>
            <a:ext cx="64008" cy="4206240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91456" y="9144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Derivative Rules (backward)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791456" y="1243584"/>
            <a:ext cx="685800" cy="338328"/>
          </a:xfrm>
          <a:prstGeom prst="rect">
            <a:avLst/>
          </a:prstGeom>
          <a:solidFill>
            <a:srgbClr val="0D1B2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46320" y="1243584"/>
            <a:ext cx="63093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522976" y="1243584"/>
            <a:ext cx="3063240" cy="338328"/>
          </a:xfrm>
          <a:prstGeom prst="rect">
            <a:avLst/>
          </a:prstGeom>
          <a:solidFill>
            <a:srgbClr val="0D1B2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77840" y="1243584"/>
            <a:ext cx="300837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Backward rule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791456" y="1591056"/>
            <a:ext cx="68580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46320" y="1591056"/>
            <a:ext cx="63093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+ b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522976" y="1591056"/>
            <a:ext cx="306324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77840" y="1591056"/>
            <a:ext cx="300837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ā += grad,  b̄ += grad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791456" y="1938528"/>
            <a:ext cx="685800" cy="338328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46320" y="1938528"/>
            <a:ext cx="63093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− b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5522976" y="1938528"/>
            <a:ext cx="3063240" cy="338328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77840" y="1938528"/>
            <a:ext cx="300837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ā += grad,  b̄ += −grad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791456" y="2286000"/>
            <a:ext cx="68580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46320" y="2286000"/>
            <a:ext cx="63093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× b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522976" y="2286000"/>
            <a:ext cx="306324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77840" y="2286000"/>
            <a:ext cx="300837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ā += grad·b,  b̄ += grad·a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791456" y="2633472"/>
            <a:ext cx="685800" cy="338328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46320" y="2633472"/>
            <a:ext cx="63093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/ b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522976" y="2633472"/>
            <a:ext cx="3063240" cy="338328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77840" y="2633472"/>
            <a:ext cx="300837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ā += grad/b,  b̄ −= grad·a/b²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4791456" y="2980944"/>
            <a:ext cx="68580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846320" y="2980944"/>
            <a:ext cx="63093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sin(a)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5522976" y="2980944"/>
            <a:ext cx="306324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77840" y="2980944"/>
            <a:ext cx="300837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ā += grad·cos(a)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791456" y="3328416"/>
            <a:ext cx="685800" cy="338328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46320" y="3328416"/>
            <a:ext cx="63093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cos(a)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5522976" y="3328416"/>
            <a:ext cx="3063240" cy="338328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577840" y="3328416"/>
            <a:ext cx="300837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ā += grad·(−sin(a))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4791456" y="3675888"/>
            <a:ext cx="68580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846320" y="3675888"/>
            <a:ext cx="63093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exp(a)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5522976" y="3675888"/>
            <a:ext cx="306324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577840" y="3675888"/>
            <a:ext cx="300837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ā += grad·exp(a)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4791456" y="4023360"/>
            <a:ext cx="685800" cy="338328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846320" y="4023360"/>
            <a:ext cx="63093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log(a)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5522976" y="4023360"/>
            <a:ext cx="3063240" cy="338328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577840" y="4023360"/>
            <a:ext cx="300837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ā += grad / a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4791456" y="4370832"/>
            <a:ext cx="68580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846320" y="4370832"/>
            <a:ext cx="63093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sqrt(a)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5522976" y="4370832"/>
            <a:ext cx="306324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577840" y="4370832"/>
            <a:ext cx="300837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ā += grad / (2·sqrt(a))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D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658368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Implementation — Reverse Mode (var.hpp)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56032" y="64008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Wengert tape with lambda backward functions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28600" y="749808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struct TapeEntry {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" y="964692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double value;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28600" y="117957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double adjoint = 0.0;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" y="1394460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function&lt;void(double)&gt; backward;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" y="160934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" y="1824228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28600" y="2039112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struct Var {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28600" y="22539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index;  // into global tape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28600" y="2468880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double value()   { return tape[index].value; }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28600" y="268376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double&amp; adjoint(){ return tape[index].adjoint; }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28600" y="2898648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28600" y="3113532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28600" y="332841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Multiplication: records backward lambda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28600" y="3543300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operator*(Var a, Var b) {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28600" y="375818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double av=a.value(), bv=b.value();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28600" y="3973068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Var(av*bv, [a,b,av,bv](double g){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28600" y="4187952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tape[a.index].adjoint += g*bv;  // ∂/∂a=b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28600" y="440283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tape[b.index].adjoint += g*av;  // ∂/∂b=a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28600" y="4617720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});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8600" y="483260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53712" y="749808"/>
            <a:ext cx="36576" cy="4114800"/>
          </a:xfrm>
          <a:prstGeom prst="rect">
            <a:avLst/>
          </a:prstGeom>
          <a:solidFill>
            <a:srgbClr val="007E8A"/>
          </a:solidFill>
          <a:ln w="12700">
            <a:solidFill>
              <a:srgbClr val="007E8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63440" y="749808"/>
            <a:ext cx="4206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backward(Var output) {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663440" y="992124"/>
            <a:ext cx="4206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tape[output.index].adjoint = 1.0;  // seed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663440" y="1234440"/>
            <a:ext cx="4206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(int i=output.index; i&gt;=0; --i)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663440" y="1476756"/>
            <a:ext cx="4206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(tape[i].adjoint != 0.0)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663440" y="1719072"/>
            <a:ext cx="4206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tape[i].backward(tape[i].adjoint);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663440" y="1961388"/>
            <a:ext cx="4206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663440" y="2203704"/>
            <a:ext cx="4206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663440" y="2446020"/>
            <a:ext cx="4206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Usage: f(x₁,x₂) = x₁·x₂ + sin(x₁)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663440" y="2688336"/>
            <a:ext cx="4206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clear_tape();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663440" y="2930652"/>
            <a:ext cx="4206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x1(2.0), x2(3.0);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663440" y="3172968"/>
            <a:ext cx="4206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y = x1 * x2 + sin(x1);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663440" y="3415284"/>
            <a:ext cx="4206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backward(y);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663440" y="3657600"/>
            <a:ext cx="4206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663440" y="3899916"/>
            <a:ext cx="4206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Output: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4663440" y="4142232"/>
            <a:ext cx="4206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x1.adjoint() == 3 + cos(2) ≈ 2.584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4663440" y="4384548"/>
            <a:ext cx="4206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x2.adjoint() == 2.0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663440" y="4626864"/>
            <a:ext cx="4206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FCF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Both in ONE backward pass!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8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658368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Fan-Out — Why Adjoints Must Accumulate with +=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56032" y="64008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subtle but critical correctness requirement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14400"/>
            <a:ext cx="512064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14400"/>
            <a:ext cx="64008" cy="3977640"/>
          </a:xfrm>
          <a:prstGeom prst="rect">
            <a:avLst/>
          </a:prstGeom>
          <a:solidFill>
            <a:srgbClr val="EB5757"/>
          </a:solidFill>
          <a:ln w="12700">
            <a:solidFill>
              <a:srgbClr val="EB575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98755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variable is used more than once,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gradients from ALL uses must be SUMMED.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" y="16276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Example: f(x) = x·x = x² at x = 5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" y="2011680"/>
            <a:ext cx="914400" cy="402336"/>
          </a:xfrm>
          <a:prstGeom prst="ellipse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01168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x=5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560320" y="2011680"/>
            <a:ext cx="914400" cy="402336"/>
          </a:xfrm>
          <a:prstGeom prst="rect">
            <a:avLst/>
          </a:prstGeom>
          <a:solidFill>
            <a:srgbClr val="162535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60320" y="201168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×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4206240" y="2011680"/>
            <a:ext cx="914400" cy="402336"/>
          </a:xfrm>
          <a:prstGeom prst="ellipse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201168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y=25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828800" y="2029968"/>
            <a:ext cx="731520" cy="182880"/>
          </a:xfrm>
          <a:prstGeom prst="line">
            <a:avLst/>
          </a:prstGeom>
          <a:noFill/>
          <a:ln w="12700">
            <a:solidFill>
              <a:srgbClr val="B0C4D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828800" y="2395728"/>
            <a:ext cx="731520" cy="0"/>
          </a:xfrm>
          <a:prstGeom prst="line">
            <a:avLst/>
          </a:prstGeom>
          <a:noFill/>
          <a:ln w="12700">
            <a:solidFill>
              <a:srgbClr val="B0C4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74720" y="2212848"/>
            <a:ext cx="731520" cy="0"/>
          </a:xfrm>
          <a:prstGeom prst="line">
            <a:avLst/>
          </a:prstGeom>
          <a:noFill/>
          <a:ln w="12700">
            <a:solidFill>
              <a:srgbClr val="B0C4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691640" y="1828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input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645920" y="24231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input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11480" y="2743200"/>
            <a:ext cx="2194560" cy="841248"/>
          </a:xfrm>
          <a:prstGeom prst="rect">
            <a:avLst/>
          </a:prstGeom>
          <a:solidFill>
            <a:srgbClr val="6FCF97"/>
          </a:solidFill>
          <a:ln w="12700">
            <a:solidFill>
              <a:srgbClr val="6FCF9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2743200"/>
            <a:ext cx="2194560" cy="84124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CORRECT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v̄₁ += ȳ·v₁ = 5  (right)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v̄₁ += ȳ·v₁ = 5  (left)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v̄₁ = 10 = 2x ✓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743200" y="2743200"/>
            <a:ext cx="2194560" cy="841248"/>
          </a:xfrm>
          <a:prstGeom prst="rect">
            <a:avLst/>
          </a:prstGeom>
          <a:solidFill>
            <a:srgbClr val="EB5757"/>
          </a:solidFill>
          <a:ln w="12700">
            <a:solidFill>
              <a:srgbClr val="EB575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0" y="2743200"/>
            <a:ext cx="2194560" cy="84124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✗ WRONG (= instead of +=)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v̄₁ = ȳ·v₁ = 5  (right)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v̄₁ = ȳ·v₁ = 5  (left, overwrites!)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v̄₁ = 5 ≠ 10  ✗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11480" y="3657600"/>
            <a:ext cx="4572000" cy="2743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1480" y="3657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multivariate chain rule REQUIRES summation over all paths!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532120" y="914400"/>
            <a:ext cx="338328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532120" y="914400"/>
            <a:ext cx="64008" cy="3977640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05856" y="9875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Fan-out in var.hpp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705856" y="132588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x*x — x used twice!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705856" y="1568196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x(5.0);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705856" y="181051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y = x * x;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705856" y="205282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backward(y);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705856" y="2295144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705856" y="25374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Inside operator*(a,b):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705856" y="2779776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Both a.index==b.index==x.index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705856" y="302209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tape[a.index].adjoint += g*bv;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705856" y="326440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tape[b.index].adjoint += g*av;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705856" y="3506724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FCF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Same slot, accumulated!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705856" y="374904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705856" y="3991356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FCF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x.adjoint() == 10  ✓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705856" y="423367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2x = 2·5 = 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8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658368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vs. Reverse Mode — Full Comparison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37160" y="804672"/>
            <a:ext cx="210312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10312" y="804672"/>
            <a:ext cx="2029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286000" y="804672"/>
            <a:ext cx="3108960" cy="384048"/>
          </a:xfrm>
          <a:prstGeom prst="rect">
            <a:avLst/>
          </a:prstGeom>
          <a:solidFill>
            <a:srgbClr val="007E8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359152" y="80467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Mode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40680" y="804672"/>
            <a:ext cx="3566160" cy="384048"/>
          </a:xfrm>
          <a:prstGeom prst="rect">
            <a:avLst/>
          </a:prstGeom>
          <a:solidFill>
            <a:srgbClr val="00C2CB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513832" y="804672"/>
            <a:ext cx="3493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Mode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37160" y="1188720"/>
            <a:ext cx="2103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0312" y="1188720"/>
            <a:ext cx="2029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286000" y="1188720"/>
            <a:ext cx="3108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359152" y="1188720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→ Output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40680" y="1188720"/>
            <a:ext cx="35661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513832" y="1188720"/>
            <a:ext cx="3493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→ Input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37160" y="1572768"/>
            <a:ext cx="2103120" cy="384048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10312" y="1572768"/>
            <a:ext cx="2029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Propagates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86000" y="1572768"/>
            <a:ext cx="3108960" cy="384048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359152" y="1572768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Tangents (perturbations)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40680" y="1572768"/>
            <a:ext cx="3566160" cy="384048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13832" y="1572768"/>
            <a:ext cx="3493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Adjoints (sensitivities)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37160" y="1956816"/>
            <a:ext cx="2103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10312" y="1956816"/>
            <a:ext cx="2029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pass computes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286000" y="1956816"/>
            <a:ext cx="3108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59152" y="1956816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column of Jacobian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40680" y="1956816"/>
            <a:ext cx="35661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13832" y="1956816"/>
            <a:ext cx="3493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of Jacobian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37160" y="2340864"/>
            <a:ext cx="2103120" cy="384048"/>
          </a:xfrm>
          <a:prstGeom prst="rect">
            <a:avLst/>
          </a:prstGeom>
          <a:solidFill>
            <a:srgbClr val="EAF6FB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10312" y="2340864"/>
            <a:ext cx="2029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f:Rⁿ→R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286000" y="2340864"/>
            <a:ext cx="3108960" cy="384048"/>
          </a:xfrm>
          <a:prstGeom prst="rect">
            <a:avLst/>
          </a:prstGeom>
          <a:solidFill>
            <a:srgbClr val="EAF6FB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59152" y="2340864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passes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440680" y="2340864"/>
            <a:ext cx="3566160" cy="384048"/>
          </a:xfrm>
          <a:prstGeom prst="rect">
            <a:avLst/>
          </a:prstGeom>
          <a:solidFill>
            <a:srgbClr val="EAF6FB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13832" y="2340864"/>
            <a:ext cx="3493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007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pass  ← ML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37160" y="2724912"/>
            <a:ext cx="2103120" cy="384048"/>
          </a:xfrm>
          <a:prstGeom prst="rect">
            <a:avLst/>
          </a:prstGeom>
          <a:solidFill>
            <a:srgbClr val="EAF6FB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10312" y="2724912"/>
            <a:ext cx="2029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f:R→Rᵐ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2286000" y="2724912"/>
            <a:ext cx="3108960" cy="384048"/>
          </a:xfrm>
          <a:prstGeom prst="rect">
            <a:avLst/>
          </a:prstGeom>
          <a:solidFill>
            <a:srgbClr val="EAF6FB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59152" y="27249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007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pass  ← wins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440680" y="2724912"/>
            <a:ext cx="3566160" cy="384048"/>
          </a:xfrm>
          <a:prstGeom prst="rect">
            <a:avLst/>
          </a:prstGeom>
          <a:solidFill>
            <a:srgbClr val="EAF6FB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724912"/>
            <a:ext cx="3493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passes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37160" y="3108960"/>
            <a:ext cx="2103120" cy="384048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10312" y="3108960"/>
            <a:ext cx="2029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2286000" y="3108960"/>
            <a:ext cx="3108960" cy="384048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359152" y="3108960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O(1) — no tape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5440680" y="3108960"/>
            <a:ext cx="3566160" cy="384048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13832" y="3108960"/>
            <a:ext cx="3493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O(T) — must store tape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37160" y="3493008"/>
            <a:ext cx="2103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10312" y="3493008"/>
            <a:ext cx="2029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2286000" y="3493008"/>
            <a:ext cx="3108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359152" y="3493008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overload (simple)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5440680" y="3493008"/>
            <a:ext cx="35661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13832" y="3493008"/>
            <a:ext cx="3493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Tape + reverse (complex)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137160" y="3877056"/>
            <a:ext cx="2103120" cy="384048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10312" y="3877056"/>
            <a:ext cx="2029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 basis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2286000" y="3877056"/>
            <a:ext cx="3108960" cy="384048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359152" y="3877056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numbers (ε²=0)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440680" y="3877056"/>
            <a:ext cx="3566160" cy="384048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13832" y="3877056"/>
            <a:ext cx="3493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rule on DAG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137160" y="4261104"/>
            <a:ext cx="2103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10312" y="4261104"/>
            <a:ext cx="2029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2286000" y="4261104"/>
            <a:ext cx="3108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359152" y="4261104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inputs, many outputs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440680" y="4261104"/>
            <a:ext cx="35661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13832" y="4261104"/>
            <a:ext cx="3493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inputs, few outputs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137160" y="4645152"/>
            <a:ext cx="2103120" cy="384048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210312" y="4645152"/>
            <a:ext cx="2029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in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2286000" y="4645152"/>
            <a:ext cx="3108960" cy="384048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2359152" y="464515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ODE solvers, sensitivity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5440680" y="4645152"/>
            <a:ext cx="3566160" cy="384048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513832" y="4645152"/>
            <a:ext cx="3493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PyTorch, TensorFlow, JAX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137160" y="804672"/>
            <a:ext cx="64008" cy="4224528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8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658368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JVP and VJP — The Fundamental Matrix Operations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56032" y="64008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f : Rⁿ → Rᵐ with Jacobian J ∈ Rᵐˣⁿ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841248"/>
            <a:ext cx="416052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841248"/>
            <a:ext cx="64008" cy="4114800"/>
          </a:xfrm>
          <a:prstGeom prst="rect">
            <a:avLst/>
          </a:prstGeom>
          <a:solidFill>
            <a:srgbClr val="007E8A"/>
          </a:solidFill>
          <a:ln w="12700">
            <a:solidFill>
              <a:srgbClr val="007E8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841248"/>
            <a:ext cx="4160520" cy="457200"/>
          </a:xfrm>
          <a:prstGeom prst="rect">
            <a:avLst/>
          </a:prstGeom>
          <a:solidFill>
            <a:srgbClr val="007E8A"/>
          </a:solidFill>
          <a:ln w="12700">
            <a:solidFill>
              <a:srgbClr val="007E8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841248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JVP — Jacobian-Vector Product (Forward)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14173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ẏ = J · v̇    where v̇ ∈ Rⁿ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" y="18470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the inputs with dual parts = v̇ ∈ Rⁿ.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forward pass gives J·v̇ ∈ Rᵐ.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2432304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 column j of J: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v̇ = eⱼ  (all zeros except position j=1)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65760" y="3017520"/>
            <a:ext cx="3657600" cy="384048"/>
          </a:xfrm>
          <a:prstGeom prst="rect">
            <a:avLst/>
          </a:prstGeom>
          <a:solidFill>
            <a:srgbClr val="D0F0F4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3017520"/>
            <a:ext cx="3657600" cy="38404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7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passes → full Jacobian (column by column)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65760" y="3493008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Applications: sensitivity analysis, ODE solvers,</a:t>
            </a:r>
            <a:endParaRPr lang="en-US" sz="1100" dirty="0"/>
          </a:p>
          <a:p>
            <a:pPr marL="0" indent="0">
              <a:buNone/>
            </a:pPr>
            <a:r>
              <a:rPr lang="en-US" sz="1100" i="1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directional derivatives, Newton Krylov methods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498848" y="841248"/>
            <a:ext cx="137160" cy="4114800"/>
          </a:xfrm>
          <a:prstGeom prst="rect">
            <a:avLst/>
          </a:prstGeom>
          <a:solidFill>
            <a:srgbClr val="E8F4F8"/>
          </a:solidFill>
          <a:ln w="12700">
            <a:solidFill>
              <a:srgbClr val="E8F4F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54880" y="841248"/>
            <a:ext cx="416052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841248"/>
            <a:ext cx="64008" cy="411480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54880" y="841248"/>
            <a:ext cx="4160520" cy="45720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841248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VJP — Vector-Jacobian Product (Reverse)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892040" y="14173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x̄ = Jᵀ · ū    where ū ∈ Rᵐ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892040" y="18470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the outputs with adjoint ū ∈ Rᵐ.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backward pass gives Jᵀ·ū ∈ Rⁿ.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92040" y="2432304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 row i of J: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ū = eᵢ  (all zeros except position i=1)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892040" y="3017520"/>
            <a:ext cx="3657600" cy="384048"/>
          </a:xfrm>
          <a:prstGeom prst="rect">
            <a:avLst/>
          </a:prstGeom>
          <a:solidFill>
            <a:srgbClr val="FFF3E0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92040" y="3017520"/>
            <a:ext cx="3657600" cy="38404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564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passes → full Jacobian (row by row)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892040" y="3493008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Applications: gradient of scalar loss (m=1),</a:t>
            </a:r>
            <a:endParaRPr lang="en-US" sz="1100" dirty="0"/>
          </a:p>
          <a:p>
            <a:pPr marL="0" indent="0">
              <a:buNone/>
            </a:pPr>
            <a:r>
              <a:rPr lang="en-US" sz="1100" i="1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backpropagation, adjoint-state method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8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658368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Jacobian — Worked Example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56032" y="64008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f(x₁,x₂) = (x₁·x₂, sin(x₁)+x₂²)  at (2,3)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841248"/>
            <a:ext cx="41605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841248"/>
            <a:ext cx="64008" cy="14630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914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Jacobian J ∈ R²ˣ²: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84048" y="118872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 = [ ∂f₁/∂x₁  ∂f₁/∂x₂ ] = [ x₂      x₁   ] = [ 3       2  ]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84048" y="144475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 ∂f₂/∂x₁  ∂f₂/∂x₂ ]   [ cos(x₁)  2x₂ ]   [ -0.416  6  ]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84048" y="170078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 ∂f₁/∂x₁  ∂f₁/∂x₂ ]   [ x₂      x₁   ] = [ 3       2  ]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28600" y="2395728"/>
            <a:ext cx="416052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28600" y="2395728"/>
            <a:ext cx="64008" cy="2514600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4048" y="24688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Mode — 2 passes (column by column)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84048" y="278892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 1: v̇ = (1,0)  → column 1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304495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x₁=2+1ε, x₂=3+0ε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02920" y="328269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f₁ = x₁·x₂ = 6+3ε  → J[0,0]=3 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02920" y="352044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f₂ = sin(2+ε)+9 = sin2+cos2·ε  → J[1,0]=cos2 ✓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84048" y="382219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 2: v̇ = (0,1)  → column 2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02920" y="407822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x₁=2, x₂=3+1ε  → J[:,1]=(2, 6) ✓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17720" y="2395728"/>
            <a:ext cx="429768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17720" y="2395728"/>
            <a:ext cx="64008" cy="251460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73168" y="2468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Mode — 2 passes (row by row)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773168" y="278892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forward pass → record tape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773168" y="3072384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Backward 1: ū=(1,0)  → row 0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892040" y="331012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Only f₁=x₁x₂ contributes: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892040" y="352958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x̄₁=x₂=3, x̄₂=x₁=2  → J[0,:]=(3,2) ✓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773168" y="382219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Backward 2: ū=(0,1)  → row 1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892040" y="407822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J[1,:]=(cos2, 6) ✓  — same Jacobian!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617720" y="841248"/>
            <a:ext cx="42976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617720" y="841248"/>
            <a:ext cx="64008" cy="1463040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73168" y="91440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comparison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773168" y="1188720"/>
            <a:ext cx="1737360" cy="256032"/>
          </a:xfrm>
          <a:prstGeom prst="rect">
            <a:avLst/>
          </a:prstGeom>
          <a:solidFill>
            <a:srgbClr val="0D1B2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9744" y="118872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547104" y="1188720"/>
            <a:ext cx="1280160" cy="256032"/>
          </a:xfrm>
          <a:prstGeom prst="rect">
            <a:avLst/>
          </a:prstGeom>
          <a:solidFill>
            <a:srgbClr val="0D1B2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83680" y="11887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863840" y="1188720"/>
            <a:ext cx="1005840" cy="256032"/>
          </a:xfrm>
          <a:prstGeom prst="rect">
            <a:avLst/>
          </a:prstGeom>
          <a:solidFill>
            <a:srgbClr val="0D1B2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900416" y="118872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773168" y="1463040"/>
            <a:ext cx="173736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09744" y="146304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(n=1000,m=1)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547104" y="1463040"/>
            <a:ext cx="128016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583680" y="14630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1000 passes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7863840" y="1463040"/>
            <a:ext cx="100584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900416" y="14630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FC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passes 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773168" y="1737360"/>
            <a:ext cx="1737360" cy="256032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09744" y="173736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(n=3,m=100)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547104" y="1737360"/>
            <a:ext cx="1280160" cy="256032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583680" y="173736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FC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passes 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7863840" y="1737360"/>
            <a:ext cx="1005840" cy="256032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900416" y="173736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 passes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773168" y="2011680"/>
            <a:ext cx="173736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09744" y="20116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Square (n=m=50)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6547104" y="2011680"/>
            <a:ext cx="128016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83680" y="20116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passes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863840" y="2011680"/>
            <a:ext cx="100584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900416" y="201168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passes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658368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to Neural Network Backpropagation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28600" y="804672"/>
            <a:ext cx="8686800" cy="475488"/>
          </a:xfrm>
          <a:prstGeom prst="rect">
            <a:avLst/>
          </a:prstGeom>
          <a:solidFill>
            <a:srgbClr val="162535"/>
          </a:solidFill>
          <a:ln w="12700">
            <a:solidFill>
              <a:srgbClr val="1625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804672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C2C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 = loss( softmax( W₃·σ( W₂·σ( W₁·x + b₁ ) + b₂ ) + b₃ ),  yₜᵣᵤₑ 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28600" y="1371600"/>
            <a:ext cx="42062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28600" y="1371600"/>
            <a:ext cx="64008" cy="3566160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8600" y="1371600"/>
            <a:ext cx="4206240" cy="438912"/>
          </a:xfrm>
          <a:prstGeom prst="rect">
            <a:avLst/>
          </a:prstGeom>
          <a:solidFill>
            <a:srgbClr val="007E8A"/>
          </a:solidFill>
          <a:ln w="12700">
            <a:solidFill>
              <a:srgbClr val="007E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371600"/>
            <a:ext cx="3931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Pass (Inference)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84048" y="188366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Feed input x through all layers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84048" y="222199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Compute prediction ŷ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84048" y="25603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Compute loss L = loss(ŷ, yₜᵣᵤₑ)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4048" y="289864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Record EVERY intermediate value on tape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84048" y="323697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84048" y="357530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Same as standard forward inference,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84048" y="39136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but record operations for backprop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1371600"/>
            <a:ext cx="425196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1371600"/>
            <a:ext cx="64008" cy="356616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63440" y="1371600"/>
            <a:ext cx="4251960" cy="438912"/>
          </a:xfrm>
          <a:prstGeom prst="rect">
            <a:avLst/>
          </a:prstGeom>
          <a:solidFill>
            <a:srgbClr val="B06A15"/>
          </a:solidFill>
          <a:ln w="12700">
            <a:solidFill>
              <a:srgbClr val="B06A1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1371600"/>
            <a:ext cx="3931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Backward Pass (Backpropagation)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828032" y="188366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Seed: ∂L/∂L = 1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28032" y="222199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Reverse through tape layer by layer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828032" y="25603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Compute ∂L/∂Wᵢ for ALL weights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828032" y="289864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in a SINGLE backward sweep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828032" y="323697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828032" y="357530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Gradient descent update: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828032" y="391363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Wᵢ ← Wᵢ − η · ∂L/∂Wᵢ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828032" y="42519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828032" y="459028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Millions of params? Still just 1 pass.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8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658368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Tradeoffs &amp; Gradient Checkpointing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56032" y="64008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mode's main drawback: the tape must be stored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868680"/>
            <a:ext cx="4846320" cy="4005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868680"/>
            <a:ext cx="64008" cy="4005072"/>
          </a:xfrm>
          <a:prstGeom prst="rect">
            <a:avLst/>
          </a:prstGeom>
          <a:solidFill>
            <a:srgbClr val="EB5757"/>
          </a:solidFill>
          <a:ln w="12700">
            <a:solidFill>
              <a:srgbClr val="EB575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94183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Memory Problem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" y="1261872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mode stores EVERY intermediate value from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forward pass on the tape. For deep networks with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training, this can exhaust GPU memory.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193852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Strategies: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11480" y="2240280"/>
            <a:ext cx="44805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B575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2240280"/>
            <a:ext cx="91440" cy="566928"/>
          </a:xfrm>
          <a:prstGeom prst="rect">
            <a:avLst/>
          </a:prstGeom>
          <a:solidFill>
            <a:srgbClr val="EB5757"/>
          </a:solidFill>
          <a:ln w="12700">
            <a:solidFill>
              <a:srgbClr val="EB57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25856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everything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4360" y="25146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Memory: O(T)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468880" y="25146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Compute: 1×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1480" y="2898648"/>
            <a:ext cx="44805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1480" y="2898648"/>
            <a:ext cx="91440" cy="56692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291693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every √T layers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94360" y="31729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Memory: O(√T)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468880" y="31729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Compute: ≤2×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11480" y="3557016"/>
            <a:ext cx="44805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6FCF9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11480" y="3557016"/>
            <a:ext cx="91440" cy="566928"/>
          </a:xfrm>
          <a:prstGeom prst="rect">
            <a:avLst/>
          </a:prstGeom>
          <a:solidFill>
            <a:srgbClr val="6FCF97"/>
          </a:solidFill>
          <a:ln w="12700">
            <a:solidFill>
              <a:srgbClr val="6FCF9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357530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Recompute all (no tape)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94360" y="383133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Memory: O(1)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468880" y="383133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Compute: O(T)×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11480" y="4206240"/>
            <a:ext cx="4480560" cy="310896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420624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O(√T) is the sweet spot — used in PyTorch &amp; TensorFlow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257800" y="868680"/>
            <a:ext cx="3657600" cy="4005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257800" y="868680"/>
            <a:ext cx="64008" cy="4005072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13248" y="9418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Which Mode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413248" y="1298448"/>
            <a:ext cx="3337560" cy="420624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58968" y="131673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∇f  (scalar loss)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315200" y="1344168"/>
            <a:ext cx="1371600" cy="310896"/>
          </a:xfrm>
          <a:prstGeom prst="rect">
            <a:avLst/>
          </a:prstGeom>
          <a:solidFill>
            <a:srgbClr val="007E8A"/>
          </a:solidFill>
          <a:ln w="12700">
            <a:solidFill>
              <a:srgbClr val="007E8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0" y="134416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 (1 pass)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413248" y="1773936"/>
            <a:ext cx="33375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58968" y="179222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J·v  (directional)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7315200" y="1819656"/>
            <a:ext cx="1371600" cy="310896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315200" y="181965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 (1 pass)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413248" y="2249424"/>
            <a:ext cx="3337560" cy="420624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58968" y="226771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uᵀJ  (VJP)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7315200" y="2295144"/>
            <a:ext cx="1371600" cy="310896"/>
          </a:xfrm>
          <a:prstGeom prst="rect">
            <a:avLst/>
          </a:prstGeom>
          <a:solidFill>
            <a:srgbClr val="007E8A"/>
          </a:solidFill>
          <a:ln w="12700">
            <a:solidFill>
              <a:srgbClr val="007E8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315200" y="229514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 (1 pass)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413248" y="2724912"/>
            <a:ext cx="33375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458968" y="27432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≪ m  (few inputs)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7315200" y="2770632"/>
            <a:ext cx="1371600" cy="310896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15200" y="277063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 (n passes)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413248" y="3200400"/>
            <a:ext cx="3337560" cy="420624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458968" y="321868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≪ n  (few outputs)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7315200" y="3246120"/>
            <a:ext cx="1371600" cy="310896"/>
          </a:xfrm>
          <a:prstGeom prst="rect">
            <a:avLst/>
          </a:prstGeom>
          <a:solidFill>
            <a:srgbClr val="007E8A"/>
          </a:solidFill>
          <a:ln w="12700">
            <a:solidFill>
              <a:srgbClr val="007E8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315200" y="324612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 (m passes)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413248" y="3675888"/>
            <a:ext cx="33375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58968" y="369417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 sparse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7315200" y="3721608"/>
            <a:ext cx="1371600" cy="310896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315200" y="372160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+ coloring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5413248" y="4151376"/>
            <a:ext cx="3337560" cy="420624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458968" y="416966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Hessian-vector H·v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7315200" y="4197096"/>
            <a:ext cx="1371600" cy="310896"/>
          </a:xfrm>
          <a:prstGeom prst="rect">
            <a:avLst/>
          </a:prstGeom>
          <a:solidFill>
            <a:srgbClr val="2C4A6E"/>
          </a:solidFill>
          <a:ln w="12700">
            <a:solidFill>
              <a:srgbClr val="2C4A6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315200" y="419709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Forward-over-Reverse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2816352" cy="1755648"/>
          </a:xfrm>
          <a:prstGeom prst="rect">
            <a:avLst/>
          </a:prstGeom>
          <a:solidFill>
            <a:srgbClr val="162535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804672"/>
            <a:ext cx="502920" cy="1755648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804672"/>
            <a:ext cx="50292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41248" y="896112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Numbers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41248" y="1225296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z=a+bε with ε²=0. Evaluating f(a+bε) yields f(a)+f′(a)bε — exact derivative as dual part.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18688" y="804672"/>
            <a:ext cx="2816352" cy="1755648"/>
          </a:xfrm>
          <a:prstGeom prst="rect">
            <a:avLst/>
          </a:prstGeom>
          <a:solidFill>
            <a:srgbClr val="162535"/>
          </a:solidFill>
          <a:ln w="12700">
            <a:solidFill>
              <a:srgbClr val="007E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18688" y="804672"/>
            <a:ext cx="502920" cy="1755648"/>
          </a:xfrm>
          <a:prstGeom prst="rect">
            <a:avLst/>
          </a:prstGeom>
          <a:solidFill>
            <a:srgbClr val="007E8A"/>
          </a:solidFill>
          <a:ln w="12700">
            <a:solidFill>
              <a:srgbClr val="007E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18688" y="804672"/>
            <a:ext cx="50292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785616" y="896112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Mode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785616" y="1225296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inputs with ε, overload operators. Propagates tangents. O(1) memory, n passes for full gradient.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63056" y="804672"/>
            <a:ext cx="2816352" cy="1755648"/>
          </a:xfrm>
          <a:prstGeom prst="rect">
            <a:avLst/>
          </a:prstGeom>
          <a:solidFill>
            <a:srgbClr val="162535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63056" y="804672"/>
            <a:ext cx="502920" cy="175564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63056" y="804672"/>
            <a:ext cx="50292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⊗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729984" y="896112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Wengert Tape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729984" y="1225296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each operation with its backward λ. Backward pass traverses tape in reverse, accumulating adjoints.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74320" y="2743200"/>
            <a:ext cx="2816352" cy="1755648"/>
          </a:xfrm>
          <a:prstGeom prst="rect">
            <a:avLst/>
          </a:prstGeom>
          <a:solidFill>
            <a:srgbClr val="162535"/>
          </a:solidFill>
          <a:ln w="12700">
            <a:solidFill>
              <a:srgbClr val="B06A1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74320" y="2743200"/>
            <a:ext cx="502920" cy="1755648"/>
          </a:xfrm>
          <a:prstGeom prst="rect">
            <a:avLst/>
          </a:prstGeom>
          <a:solidFill>
            <a:srgbClr val="B06A15"/>
          </a:solidFill>
          <a:ln w="12700">
            <a:solidFill>
              <a:srgbClr val="B06A1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4320" y="2743200"/>
            <a:ext cx="50292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841248" y="283464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Mode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41248" y="3163824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backward pass gives ∇f for ALL inputs. O(T) memory. Basis of backpropagation in ML.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18688" y="2743200"/>
            <a:ext cx="2816352" cy="1755648"/>
          </a:xfrm>
          <a:prstGeom prst="rect">
            <a:avLst/>
          </a:prstGeom>
          <a:solidFill>
            <a:srgbClr val="162535"/>
          </a:solidFill>
          <a:ln w="12700">
            <a:solidFill>
              <a:srgbClr val="6FCF9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18688" y="2743200"/>
            <a:ext cx="502920" cy="1755648"/>
          </a:xfrm>
          <a:prstGeom prst="rect">
            <a:avLst/>
          </a:prstGeom>
          <a:solidFill>
            <a:srgbClr val="6FCF97"/>
          </a:solidFill>
          <a:ln w="12700">
            <a:solidFill>
              <a:srgbClr val="6FCF9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18688" y="2743200"/>
            <a:ext cx="50292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3785616" y="283464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Jacobians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785616" y="3163824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Forward: n passes, column by column (JVP). Reverse: m passes, row by row (VJP). Choose min(n,m).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163056" y="2743200"/>
            <a:ext cx="2816352" cy="1755648"/>
          </a:xfrm>
          <a:prstGeom prst="rect">
            <a:avLst/>
          </a:prstGeom>
          <a:solidFill>
            <a:srgbClr val="162535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63056" y="2743200"/>
            <a:ext cx="502920" cy="17556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63056" y="2743200"/>
            <a:ext cx="50292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6729984" y="283464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Bottom Line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729984" y="3163824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is exact, efficient, and composable. Reverse mode makes training million-param networks tractable.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3129</Words>
  <Application>Microsoft Office PowerPoint</Application>
  <PresentationFormat>On-screen Show (16:9)</PresentationFormat>
  <Paragraphs>448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Automatic Differentiation</dc:title>
  <dc:subject>PptxGenJS Presentation</dc:subject>
  <dc:creator>PptxGenJS</dc:creator>
  <cp:lastModifiedBy>Jude Jin</cp:lastModifiedBy>
  <cp:revision>1</cp:revision>
  <dcterms:created xsi:type="dcterms:W3CDTF">2026-02-28T16:39:22Z</dcterms:created>
  <dcterms:modified xsi:type="dcterms:W3CDTF">2026-02-28T20:28:58Z</dcterms:modified>
</cp:coreProperties>
</file>